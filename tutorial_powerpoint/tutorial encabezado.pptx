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3" r:id="rId8"/>
    <p:sldId id="260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" y="14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4DB11E-C9DF-4DDC-BF8C-5A7D3AEA8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17D076-6252-42DA-9D52-0F034E5663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922079-586B-4E7E-8B4C-21A4F0015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D5FF39-3FE8-4520-9A89-94337A1F9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0841FE-33CF-471A-BCA9-AFC1E0C3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2942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D2C1D-00F2-4E80-B5EC-F9B4EC76D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5B86EE-A520-4938-BBFC-308E4E9B4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4C9DEE-DA8C-46B8-A466-838A33CDD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1D0A46-0327-4812-BF88-48AAB9C44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7C58F7-A027-4990-985A-33D7A2522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0745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9F0B98-20C0-4382-ACA0-7F225FDDB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724651-DCDB-4A89-8CC9-9D2881A49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FE5FE3-A654-4F3F-8C1F-087718158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AE3138-AA6F-45AB-A6F4-29E527D40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F14F0B-1CCD-40CF-8969-EB6520BBF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7569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11F4CB-FE26-4211-9D9E-77D28E3BD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DB7E02-50FB-424D-B0D3-C4315ACF06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F600DB3-D558-41E5-BBA3-81252DB93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48A702-E385-440C-B23E-E78E4FBCC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64824C-91FD-479E-99BA-178A57795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FEC80C-FF8D-4467-A7F3-58C50DB17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79771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CCED42-C68E-4147-AA71-D501FDA9F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0B5416-F2E4-4DE3-AB59-C247E75C2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3021BB-9D6F-4014-B30D-BBAD1141E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2D349C3-E307-4620-8073-8454BD3DE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313D91D-62CF-42E2-8CF8-5F5FB05A6A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9C7D113-EAB3-42AE-AEFB-7A205242B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187A07C-093D-4E96-97AA-61D9483C8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A698BD7-289F-49F8-8B6C-A18EFD627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30787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D4615-DC4A-4C09-B01E-D9C5E896B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999650B-5147-4C16-B324-46C10496B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D53A37-15DB-4430-8927-4C92E093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8BCBFD-CB90-4A34-BEFB-0C4B1F8E8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4668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17949BE-23D4-45ED-982E-87E5E550D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2269633-1D51-4A32-A9C7-BDEFC8D69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B73C6B-CEAC-4893-B7E9-50FCED9D5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1471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2FE340-E118-40BC-80FF-67F3F0969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4DE572-55FB-4CD1-80B7-4F5B79E17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6034735-07AE-432A-9743-E6C85E0DF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9CE96B-AC63-44E7-B7F9-80B880A7B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4FFCD9-0D95-466B-B1C1-11A2C3B8F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E0B1032-3F2D-463A-89F0-6557D2CD3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1008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CC350B-9D66-4CDE-B1B4-A91ED99B0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E391096-991C-4D66-B5E8-117284D569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2648566-8850-4B1F-92D6-945B619D8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69E5BF0-D6A4-4C40-ACB3-635666809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E15B60-1D3F-4A71-8C46-D07589934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6C15301-B5C1-40C8-B7BC-6210D3258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31069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16F721-61E3-4117-948F-0084F836C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1AB4C5-F4F2-4888-93D5-5A20A59B7B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516FDE-55AD-4D67-A363-1CDC8D323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1105C3-451F-433F-A27A-2257D38BA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90528E-B5F1-4B8F-9F78-E82055B6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73702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AF5760-7C75-4EE4-8C5D-FDEE6231AA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92F941D-FEBD-4D7E-AB31-C252D5B2C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2085A6-B77C-4C8B-9B0D-830E54857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0D150A-43B9-46AA-8703-FBF8758F2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CCEF45-D74A-4970-BFDB-61E4291EF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325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339EA8B-42ED-4EF0-BD9D-B112EE68E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626D5B-AAB0-4FB4-8F9C-D3EF783B7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3871ED-2133-48DE-AFD7-506CF27E49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F4D3E-34FE-40CA-BBCE-E9B2AA46D901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E75052-FC4D-4F13-B6D3-60B0EBC00E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41981E-3FCB-46D8-A905-48262C301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4789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E3ECBD-8E4A-4071-8C7C-9AD0CCB03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9999" y="-187016"/>
            <a:ext cx="5952067" cy="3195637"/>
          </a:xfrm>
        </p:spPr>
        <p:txBody>
          <a:bodyPr>
            <a:noAutofit/>
          </a:bodyPr>
          <a:lstStyle/>
          <a:p>
            <a:r>
              <a:rPr lang="es-MX" sz="8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Botón de accesibilidad</a:t>
            </a:r>
          </a:p>
        </p:txBody>
      </p:sp>
      <p:pic>
        <p:nvPicPr>
          <p:cNvPr id="1026" name="Picture 2" descr="Botón de accesibilidad ilustración del vector. Ilustración de médico -  4672120">
            <a:extLst>
              <a:ext uri="{FF2B5EF4-FFF2-40B4-BE49-F238E27FC236}">
                <a16:creationId xmlns:a16="http://schemas.microsoft.com/office/drawing/2014/main" id="{8070F3E3-BA1B-41B3-B3B9-ED981A59F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69553"/>
            <a:ext cx="6917795" cy="7038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F512AFE3-CD78-4937-95E9-1F1F692506D4}"/>
              </a:ext>
            </a:extLst>
          </p:cNvPr>
          <p:cNvSpPr txBox="1">
            <a:spLocks/>
          </p:cNvSpPr>
          <p:nvPr/>
        </p:nvSpPr>
        <p:spPr>
          <a:xfrm>
            <a:off x="6663266" y="2768028"/>
            <a:ext cx="5173133" cy="319563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7200" dirty="0"/>
              <a:t>¿Cómo debe usarse? </a:t>
            </a:r>
          </a:p>
        </p:txBody>
      </p:sp>
    </p:spTree>
    <p:extLst>
      <p:ext uri="{BB962C8B-B14F-4D97-AF65-F5344CB8AC3E}">
        <p14:creationId xmlns:p14="http://schemas.microsoft.com/office/powerpoint/2010/main" val="411565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B0EF771-A6F5-4EFE-B2B4-DFDA475F6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49500" cy="6858000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29CE7D06-0CCE-44DE-80BA-4AABAF006091}"/>
              </a:ext>
            </a:extLst>
          </p:cNvPr>
          <p:cNvSpPr txBox="1">
            <a:spLocks/>
          </p:cNvSpPr>
          <p:nvPr/>
        </p:nvSpPr>
        <p:spPr>
          <a:xfrm>
            <a:off x="2666999" y="0"/>
            <a:ext cx="9186334" cy="129006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4400" dirty="0"/>
              <a:t>Este programa esta basado en varios tipos de programas (HTML, java y </a:t>
            </a:r>
            <a:r>
              <a:rPr lang="es-MX" sz="4400" dirty="0" err="1"/>
              <a:t>css</a:t>
            </a:r>
            <a:r>
              <a:rPr lang="es-MX" sz="4400" dirty="0"/>
              <a:t>) 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4D425335-41F1-427A-9F67-6AC71ADB2836}"/>
              </a:ext>
            </a:extLst>
          </p:cNvPr>
          <p:cNvCxnSpPr/>
          <p:nvPr/>
        </p:nvCxnSpPr>
        <p:spPr>
          <a:xfrm flipH="1">
            <a:off x="4013200" y="1456267"/>
            <a:ext cx="2201333" cy="795866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3116DCB7-5D9E-473C-9407-05BC6123FC44}"/>
              </a:ext>
            </a:extLst>
          </p:cNvPr>
          <p:cNvCxnSpPr>
            <a:cxnSpLocks/>
          </p:cNvCxnSpPr>
          <p:nvPr/>
        </p:nvCxnSpPr>
        <p:spPr>
          <a:xfrm>
            <a:off x="7260166" y="1456267"/>
            <a:ext cx="0" cy="1075266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E8E81104-1AD5-44E9-BCA7-9A4180FC8FCD}"/>
              </a:ext>
            </a:extLst>
          </p:cNvPr>
          <p:cNvCxnSpPr>
            <a:cxnSpLocks/>
          </p:cNvCxnSpPr>
          <p:nvPr/>
        </p:nvCxnSpPr>
        <p:spPr>
          <a:xfrm>
            <a:off x="8305800" y="1397000"/>
            <a:ext cx="2099733" cy="91440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ECF7EA14-9A05-4B81-896C-B5068DBC9AC4}"/>
              </a:ext>
            </a:extLst>
          </p:cNvPr>
          <p:cNvSpPr txBox="1">
            <a:spLocks/>
          </p:cNvSpPr>
          <p:nvPr/>
        </p:nvSpPr>
        <p:spPr>
          <a:xfrm>
            <a:off x="2404693" y="2227520"/>
            <a:ext cx="3287024" cy="129006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b="1" dirty="0"/>
              <a:t>HTML </a:t>
            </a:r>
            <a:r>
              <a:rPr lang="es-MX" sz="2800" dirty="0"/>
              <a:t>da la estructura y el contenido a una página web. 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8A767B6D-9B1B-47CA-93BD-1FFCC8F2EF8A}"/>
              </a:ext>
            </a:extLst>
          </p:cNvPr>
          <p:cNvSpPr txBox="1">
            <a:spLocks/>
          </p:cNvSpPr>
          <p:nvPr/>
        </p:nvSpPr>
        <p:spPr>
          <a:xfrm>
            <a:off x="6214533" y="2522434"/>
            <a:ext cx="2099732" cy="83286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b="1" dirty="0"/>
              <a:t>Java </a:t>
            </a:r>
            <a:r>
              <a:rPr lang="es-MX" sz="2800" dirty="0"/>
              <a:t>añade interactividad </a:t>
            </a:r>
            <a:endParaRPr lang="es-MX" sz="2800" b="1" dirty="0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77682769-A50A-42ED-9DCB-C5940BCC1511}"/>
              </a:ext>
            </a:extLst>
          </p:cNvPr>
          <p:cNvCxnSpPr>
            <a:cxnSpLocks/>
          </p:cNvCxnSpPr>
          <p:nvPr/>
        </p:nvCxnSpPr>
        <p:spPr>
          <a:xfrm>
            <a:off x="3863075" y="3515863"/>
            <a:ext cx="0" cy="89365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ítulo 1">
            <a:extLst>
              <a:ext uri="{FF2B5EF4-FFF2-40B4-BE49-F238E27FC236}">
                <a16:creationId xmlns:a16="http://schemas.microsoft.com/office/drawing/2014/main" id="{BB60EC7A-0ADB-409E-9341-07533D22C2C4}"/>
              </a:ext>
            </a:extLst>
          </p:cNvPr>
          <p:cNvSpPr txBox="1">
            <a:spLocks/>
          </p:cNvSpPr>
          <p:nvPr/>
        </p:nvSpPr>
        <p:spPr>
          <a:xfrm>
            <a:off x="2200229" y="4407797"/>
            <a:ext cx="3695952" cy="129006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dirty="0"/>
              <a:t>Por eso solo es necesario un HTML pero este al contener toda la página necesita más de 800 líneas 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EE312B00-6451-4D49-9C7A-152E74198D22}"/>
              </a:ext>
            </a:extLst>
          </p:cNvPr>
          <p:cNvSpPr txBox="1">
            <a:spLocks/>
          </p:cNvSpPr>
          <p:nvPr/>
        </p:nvSpPr>
        <p:spPr>
          <a:xfrm>
            <a:off x="5896181" y="4407797"/>
            <a:ext cx="3161476" cy="129006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dirty="0"/>
              <a:t>Es el lenguaje responsable del botón de accesibilidad y de los distintos carruseles 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AA45FA80-785C-4B8A-9F27-ED679F865D0A}"/>
              </a:ext>
            </a:extLst>
          </p:cNvPr>
          <p:cNvCxnSpPr>
            <a:cxnSpLocks/>
          </p:cNvCxnSpPr>
          <p:nvPr/>
        </p:nvCxnSpPr>
        <p:spPr>
          <a:xfrm>
            <a:off x="7290495" y="3355298"/>
            <a:ext cx="0" cy="1162111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ítulo 1">
            <a:extLst>
              <a:ext uri="{FF2B5EF4-FFF2-40B4-BE49-F238E27FC236}">
                <a16:creationId xmlns:a16="http://schemas.microsoft.com/office/drawing/2014/main" id="{E93D0948-AA70-4C48-AAB6-136BC2F242EF}"/>
              </a:ext>
            </a:extLst>
          </p:cNvPr>
          <p:cNvSpPr txBox="1">
            <a:spLocks/>
          </p:cNvSpPr>
          <p:nvPr/>
        </p:nvSpPr>
        <p:spPr>
          <a:xfrm>
            <a:off x="9495826" y="2197487"/>
            <a:ext cx="2444177" cy="11621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b="1" dirty="0" err="1"/>
              <a:t>Css</a:t>
            </a:r>
            <a:r>
              <a:rPr lang="es-MX" sz="2400" dirty="0"/>
              <a:t> controla el diseño, los colores y la apariencia visual </a:t>
            </a:r>
            <a:r>
              <a:rPr lang="es-MX" sz="2400" b="1" dirty="0"/>
              <a:t> 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DA81AD50-76C6-4C1E-985B-AC90BCE1CE4A}"/>
              </a:ext>
            </a:extLst>
          </p:cNvPr>
          <p:cNvCxnSpPr>
            <a:cxnSpLocks/>
          </p:cNvCxnSpPr>
          <p:nvPr/>
        </p:nvCxnSpPr>
        <p:spPr>
          <a:xfrm>
            <a:off x="10717914" y="3429000"/>
            <a:ext cx="0" cy="1188381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ítulo 1">
            <a:extLst>
              <a:ext uri="{FF2B5EF4-FFF2-40B4-BE49-F238E27FC236}">
                <a16:creationId xmlns:a16="http://schemas.microsoft.com/office/drawing/2014/main" id="{74FC3D5F-75E5-4A99-AF7D-7E34C14B33CE}"/>
              </a:ext>
            </a:extLst>
          </p:cNvPr>
          <p:cNvSpPr txBox="1">
            <a:spLocks/>
          </p:cNvSpPr>
          <p:nvPr/>
        </p:nvSpPr>
        <p:spPr>
          <a:xfrm>
            <a:off x="9442862" y="4686783"/>
            <a:ext cx="2598523" cy="129006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/>
              <a:t>Es el que más archivos tiene debido a las distintas secciones que tiene la pagina original</a:t>
            </a:r>
          </a:p>
        </p:txBody>
      </p:sp>
    </p:spTree>
    <p:extLst>
      <p:ext uri="{BB962C8B-B14F-4D97-AF65-F5344CB8AC3E}">
        <p14:creationId xmlns:p14="http://schemas.microsoft.com/office/powerpoint/2010/main" val="3003471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9232352-0B83-473B-9E06-55937A80D1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887"/>
          <a:stretch/>
        </p:blipFill>
        <p:spPr>
          <a:xfrm>
            <a:off x="0" y="-32343"/>
            <a:ext cx="12192000" cy="68903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4817C3C-EEB9-4587-9C43-70C6C563B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5162" y="154887"/>
            <a:ext cx="3599479" cy="1774208"/>
          </a:xfrm>
          <a:ln>
            <a:solidFill>
              <a:schemeClr val="bg1"/>
            </a:solidFill>
          </a:ln>
        </p:spPr>
        <p:txBody>
          <a:bodyPr>
            <a:noAutofit/>
          </a:bodyPr>
          <a:lstStyle/>
          <a:p>
            <a:pPr algn="ctr"/>
            <a:r>
              <a:rPr lang="es-MX" sz="2800" b="1" dirty="0">
                <a:solidFill>
                  <a:schemeClr val="bg1"/>
                </a:solidFill>
              </a:rPr>
              <a:t>Ya vimos que el HTML es la base de la página, y necesita configurarse así al principio</a:t>
            </a:r>
          </a:p>
        </p:txBody>
      </p:sp>
      <p:sp>
        <p:nvSpPr>
          <p:cNvPr id="6" name="Cerrar llave 5">
            <a:extLst>
              <a:ext uri="{FF2B5EF4-FFF2-40B4-BE49-F238E27FC236}">
                <a16:creationId xmlns:a16="http://schemas.microsoft.com/office/drawing/2014/main" id="{F5D1D1BD-5937-4A37-B9F4-047DEBD2B96D}"/>
              </a:ext>
            </a:extLst>
          </p:cNvPr>
          <p:cNvSpPr/>
          <p:nvPr/>
        </p:nvSpPr>
        <p:spPr>
          <a:xfrm>
            <a:off x="5431808" y="0"/>
            <a:ext cx="277875" cy="1041991"/>
          </a:xfrm>
          <a:prstGeom prst="rightBrac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AC92181-C439-47EB-8D6B-162428A57C3F}"/>
              </a:ext>
            </a:extLst>
          </p:cNvPr>
          <p:cNvSpPr txBox="1"/>
          <p:nvPr/>
        </p:nvSpPr>
        <p:spPr>
          <a:xfrm>
            <a:off x="6095999" y="110022"/>
            <a:ext cx="20478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dirty="0">
                <a:solidFill>
                  <a:schemeClr val="bg1"/>
                </a:solidFill>
              </a:rPr>
              <a:t>Protocolo de HTML 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347C8320-502A-413F-BA45-224B612E0066}"/>
              </a:ext>
            </a:extLst>
          </p:cNvPr>
          <p:cNvCxnSpPr/>
          <p:nvPr/>
        </p:nvCxnSpPr>
        <p:spPr>
          <a:xfrm>
            <a:off x="5224130" y="1307804"/>
            <a:ext cx="871869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DD0DFA1-BA8A-449E-B1B2-F3F46D2B918D}"/>
              </a:ext>
            </a:extLst>
          </p:cNvPr>
          <p:cNvSpPr txBox="1"/>
          <p:nvPr/>
        </p:nvSpPr>
        <p:spPr>
          <a:xfrm>
            <a:off x="6137457" y="1107749"/>
            <a:ext cx="2140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</a:rPr>
              <a:t>Título de la página</a:t>
            </a:r>
          </a:p>
        </p:txBody>
      </p:sp>
      <p:sp>
        <p:nvSpPr>
          <p:cNvPr id="13" name="Cerrar llave 12">
            <a:extLst>
              <a:ext uri="{FF2B5EF4-FFF2-40B4-BE49-F238E27FC236}">
                <a16:creationId xmlns:a16="http://schemas.microsoft.com/office/drawing/2014/main" id="{47AF8820-EDA1-4CD5-B187-DEB4AA22B5CA}"/>
              </a:ext>
            </a:extLst>
          </p:cNvPr>
          <p:cNvSpPr/>
          <p:nvPr/>
        </p:nvSpPr>
        <p:spPr>
          <a:xfrm>
            <a:off x="8143824" y="2034363"/>
            <a:ext cx="277875" cy="4685414"/>
          </a:xfrm>
          <a:prstGeom prst="rightBrace">
            <a:avLst>
              <a:gd name="adj1" fmla="val 8333"/>
              <a:gd name="adj2" fmla="val 49319"/>
            </a:avLst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516FC58-2E30-469D-AC95-0E601B18545C}"/>
              </a:ext>
            </a:extLst>
          </p:cNvPr>
          <p:cNvSpPr txBox="1"/>
          <p:nvPr/>
        </p:nvSpPr>
        <p:spPr>
          <a:xfrm>
            <a:off x="8421699" y="2116325"/>
            <a:ext cx="377030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</a:rPr>
              <a:t>Son todos los estilos de la pagina web, cada archivo representa una sección de la pagina. Se pueden añadir las secciones que guste el usuario </a:t>
            </a:r>
          </a:p>
          <a:p>
            <a:endParaRPr lang="es-MX" sz="2800" dirty="0">
              <a:solidFill>
                <a:schemeClr val="bg1"/>
              </a:solidFill>
            </a:endParaRPr>
          </a:p>
          <a:p>
            <a:r>
              <a:rPr lang="es-MX" sz="2800" dirty="0">
                <a:solidFill>
                  <a:schemeClr val="bg1"/>
                </a:solidFill>
              </a:rPr>
              <a:t>Las últimas líneas añaden estilo de fuente</a:t>
            </a:r>
          </a:p>
        </p:txBody>
      </p:sp>
    </p:spTree>
    <p:extLst>
      <p:ext uri="{BB962C8B-B14F-4D97-AF65-F5344CB8AC3E}">
        <p14:creationId xmlns:p14="http://schemas.microsoft.com/office/powerpoint/2010/main" val="4081040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481D73B-A980-4C78-8BFB-C748DCC2B4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07" r="8780"/>
          <a:stretch/>
        </p:blipFill>
        <p:spPr>
          <a:xfrm>
            <a:off x="-1" y="0"/>
            <a:ext cx="12171021" cy="39624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5173809-E831-4A6D-907D-FA6075CA559F}"/>
              </a:ext>
            </a:extLst>
          </p:cNvPr>
          <p:cNvSpPr txBox="1"/>
          <p:nvPr/>
        </p:nvSpPr>
        <p:spPr>
          <a:xfrm>
            <a:off x="0" y="4324994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Para generar una nueva sección cuando se necesite (un nuevo carrusel, nuevo texto, etc.) se da clic a este botón, y dependiendo de si queremos un </a:t>
            </a:r>
            <a:r>
              <a:rPr lang="es-MX" sz="3600" b="1" dirty="0"/>
              <a:t>java </a:t>
            </a:r>
            <a:r>
              <a:rPr lang="es-MX" sz="3600" dirty="0"/>
              <a:t>o un </a:t>
            </a:r>
            <a:r>
              <a:rPr lang="es-MX" sz="3600" b="1" dirty="0" err="1"/>
              <a:t>css</a:t>
            </a:r>
            <a:r>
              <a:rPr lang="es-MX" sz="3600" dirty="0"/>
              <a:t> damos un clic en la carpeta y presionamos el botón de nuevo archivo.  </a:t>
            </a:r>
          </a:p>
        </p:txBody>
      </p:sp>
    </p:spTree>
    <p:extLst>
      <p:ext uri="{BB962C8B-B14F-4D97-AF65-F5344CB8AC3E}">
        <p14:creationId xmlns:p14="http://schemas.microsoft.com/office/powerpoint/2010/main" val="2212129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158E290-1E8C-4059-A8DE-4ACF15FA1D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148"/>
          <a:stretch/>
        </p:blipFill>
        <p:spPr>
          <a:xfrm>
            <a:off x="0" y="0"/>
            <a:ext cx="5158154" cy="421049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0FECF59-8378-4158-8B18-A0449E781FD6}"/>
              </a:ext>
            </a:extLst>
          </p:cNvPr>
          <p:cNvSpPr txBox="1"/>
          <p:nvPr/>
        </p:nvSpPr>
        <p:spPr>
          <a:xfrm>
            <a:off x="-4550" y="4997302"/>
            <a:ext cx="1219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El </a:t>
            </a:r>
            <a:r>
              <a:rPr lang="es-MX" sz="3600" dirty="0" err="1"/>
              <a:t>html</a:t>
            </a:r>
            <a:r>
              <a:rPr lang="es-MX" sz="3600" dirty="0"/>
              <a:t> va mostrando los elementos de la página en orden. Eso significa que si entre el recorrido virtual y la dirección quiero poner otra sección debo programar en esta parte del código 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CE69354-A36E-4F22-97B6-3AD6D76A8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811" y="0"/>
            <a:ext cx="6448639" cy="442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998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6EBA55B1-97AB-4E9F-8F03-9128F18B77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15"/>
          <a:stretch/>
        </p:blipFill>
        <p:spPr>
          <a:xfrm>
            <a:off x="0" y="-14365"/>
            <a:ext cx="7484690" cy="6872365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A379F652-7FEA-44B6-BDBA-3F12973594B6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972564" y="149298"/>
            <a:ext cx="6422065" cy="3647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1">
            <a:extLst>
              <a:ext uri="{FF2B5EF4-FFF2-40B4-BE49-F238E27FC236}">
                <a16:creationId xmlns:a16="http://schemas.microsoft.com/office/drawing/2014/main" id="{C231B20D-3006-4D5F-ACBD-6062219D2DC1}"/>
              </a:ext>
            </a:extLst>
          </p:cNvPr>
          <p:cNvSpPr txBox="1">
            <a:spLocks/>
          </p:cNvSpPr>
          <p:nvPr/>
        </p:nvSpPr>
        <p:spPr>
          <a:xfrm>
            <a:off x="7394629" y="-443164"/>
            <a:ext cx="4887433" cy="118492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b="1" dirty="0" err="1"/>
              <a:t>Body</a:t>
            </a:r>
            <a:r>
              <a:rPr lang="es-MX" sz="2400" b="1" dirty="0"/>
              <a:t> </a:t>
            </a:r>
            <a:r>
              <a:rPr lang="es-MX" sz="2400" dirty="0"/>
              <a:t>marca el inicio de todo lo que el usuario verá en la interfaz</a:t>
            </a:r>
            <a:endParaRPr lang="es-MX" sz="2400" b="1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2DEDFEAC-6F94-4801-ABBC-9FC3B79EE4B3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3957851" y="1130002"/>
            <a:ext cx="3694046" cy="36622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ítulo 1">
            <a:extLst>
              <a:ext uri="{FF2B5EF4-FFF2-40B4-BE49-F238E27FC236}">
                <a16:creationId xmlns:a16="http://schemas.microsoft.com/office/drawing/2014/main" id="{A9951ECE-112C-4F72-B1CB-1C8E3E44B053}"/>
              </a:ext>
            </a:extLst>
          </p:cNvPr>
          <p:cNvSpPr txBox="1">
            <a:spLocks/>
          </p:cNvSpPr>
          <p:nvPr/>
        </p:nvSpPr>
        <p:spPr>
          <a:xfrm>
            <a:off x="7651897" y="729521"/>
            <a:ext cx="4540104" cy="80096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dirty="0">
                <a:solidFill>
                  <a:srgbClr val="0070C0"/>
                </a:solidFill>
              </a:rPr>
              <a:t>3.Entre </a:t>
            </a:r>
            <a:r>
              <a:rPr lang="es-MX" sz="2400" b="1" dirty="0">
                <a:solidFill>
                  <a:srgbClr val="0070C0"/>
                </a:solidFill>
              </a:rPr>
              <a:t>&lt;</a:t>
            </a:r>
            <a:r>
              <a:rPr lang="es-MX" sz="2400" b="1" dirty="0" err="1">
                <a:solidFill>
                  <a:srgbClr val="0070C0"/>
                </a:solidFill>
              </a:rPr>
              <a:t>div</a:t>
            </a:r>
            <a:r>
              <a:rPr lang="es-MX" sz="2400" b="1" dirty="0">
                <a:solidFill>
                  <a:srgbClr val="0070C0"/>
                </a:solidFill>
              </a:rPr>
              <a:t>&gt; y &lt;/</a:t>
            </a:r>
            <a:r>
              <a:rPr lang="es-MX" sz="2400" b="1" dirty="0" err="1">
                <a:solidFill>
                  <a:srgbClr val="0070C0"/>
                </a:solidFill>
              </a:rPr>
              <a:t>div</a:t>
            </a:r>
            <a:r>
              <a:rPr lang="es-MX" sz="2400" b="1" dirty="0">
                <a:solidFill>
                  <a:srgbClr val="0070C0"/>
                </a:solidFill>
              </a:rPr>
              <a:t>&gt; </a:t>
            </a:r>
            <a:r>
              <a:rPr lang="es-MX" sz="2400" dirty="0">
                <a:solidFill>
                  <a:srgbClr val="0070C0"/>
                </a:solidFill>
              </a:rPr>
              <a:t>se agrupa todo lo que se va a modificar en un </a:t>
            </a:r>
            <a:r>
              <a:rPr lang="es-MX" sz="2400" dirty="0" err="1">
                <a:solidFill>
                  <a:srgbClr val="0070C0"/>
                </a:solidFill>
              </a:rPr>
              <a:t>css</a:t>
            </a:r>
            <a:r>
              <a:rPr lang="es-MX" sz="2400" b="1" dirty="0">
                <a:solidFill>
                  <a:srgbClr val="0070C0"/>
                </a:solidFill>
              </a:rPr>
              <a:t> 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5665D58F-ABF5-499F-B501-1B01C4E187AB}"/>
              </a:ext>
            </a:extLst>
          </p:cNvPr>
          <p:cNvCxnSpPr>
            <a:cxnSpLocks/>
          </p:cNvCxnSpPr>
          <p:nvPr/>
        </p:nvCxnSpPr>
        <p:spPr>
          <a:xfrm>
            <a:off x="3549500" y="1850653"/>
            <a:ext cx="3999616" cy="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ítulo 1">
            <a:extLst>
              <a:ext uri="{FF2B5EF4-FFF2-40B4-BE49-F238E27FC236}">
                <a16:creationId xmlns:a16="http://schemas.microsoft.com/office/drawing/2014/main" id="{AF6D3CB9-F1CF-414D-9938-FB606CD306F1}"/>
              </a:ext>
            </a:extLst>
          </p:cNvPr>
          <p:cNvSpPr txBox="1">
            <a:spLocks/>
          </p:cNvSpPr>
          <p:nvPr/>
        </p:nvSpPr>
        <p:spPr>
          <a:xfrm>
            <a:off x="7176978" y="1530483"/>
            <a:ext cx="5015022" cy="59246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800" dirty="0"/>
              <a:t>4. Inserta imágenes de la siguiente estructura “carpeta/archivo</a:t>
            </a:r>
            <a:r>
              <a:rPr lang="es-MX" sz="2000" dirty="0"/>
              <a:t>”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66C77860-58D5-47EF-9C2B-3B924DD3B395}"/>
              </a:ext>
            </a:extLst>
          </p:cNvPr>
          <p:cNvCxnSpPr>
            <a:cxnSpLocks/>
          </p:cNvCxnSpPr>
          <p:nvPr/>
        </p:nvCxnSpPr>
        <p:spPr>
          <a:xfrm>
            <a:off x="5372099" y="2178745"/>
            <a:ext cx="2453464" cy="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ítulo 1">
            <a:extLst>
              <a:ext uri="{FF2B5EF4-FFF2-40B4-BE49-F238E27FC236}">
                <a16:creationId xmlns:a16="http://schemas.microsoft.com/office/drawing/2014/main" id="{FA1CDBB0-D7F2-4A56-A771-C3E43AF0DBFB}"/>
              </a:ext>
            </a:extLst>
          </p:cNvPr>
          <p:cNvSpPr txBox="1">
            <a:spLocks/>
          </p:cNvSpPr>
          <p:nvPr/>
        </p:nvSpPr>
        <p:spPr>
          <a:xfrm>
            <a:off x="7738730" y="2032439"/>
            <a:ext cx="4366437" cy="5448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solidFill>
                  <a:srgbClr val="0070C0"/>
                </a:solidFill>
              </a:rPr>
              <a:t>Sirve como descripción para personas ciegas o de dificultad visual 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BB35FD9C-E0C7-4CBA-9A8B-4C2BC04DF6C0}"/>
              </a:ext>
            </a:extLst>
          </p:cNvPr>
          <p:cNvCxnSpPr>
            <a:cxnSpLocks/>
          </p:cNvCxnSpPr>
          <p:nvPr/>
        </p:nvCxnSpPr>
        <p:spPr>
          <a:xfrm>
            <a:off x="3002589" y="2382092"/>
            <a:ext cx="1334387" cy="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ítulo 1">
            <a:extLst>
              <a:ext uri="{FF2B5EF4-FFF2-40B4-BE49-F238E27FC236}">
                <a16:creationId xmlns:a16="http://schemas.microsoft.com/office/drawing/2014/main" id="{DA1C010C-5EA5-4BF4-9476-76A552AF9909}"/>
              </a:ext>
            </a:extLst>
          </p:cNvPr>
          <p:cNvSpPr txBox="1">
            <a:spLocks/>
          </p:cNvSpPr>
          <p:nvPr/>
        </p:nvSpPr>
        <p:spPr>
          <a:xfrm>
            <a:off x="4336976" y="2262247"/>
            <a:ext cx="2756047" cy="5448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solidFill>
                  <a:schemeClr val="bg1"/>
                </a:solidFill>
              </a:rPr>
              <a:t>5. Asigna una etiqueta para que CSS pueda encontrarla 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4C324AD4-FF72-41F7-B4F2-326C1F5124F1}"/>
              </a:ext>
            </a:extLst>
          </p:cNvPr>
          <p:cNvCxnSpPr>
            <a:cxnSpLocks/>
          </p:cNvCxnSpPr>
          <p:nvPr/>
        </p:nvCxnSpPr>
        <p:spPr>
          <a:xfrm flipV="1">
            <a:off x="3159697" y="4220342"/>
            <a:ext cx="4301978" cy="2907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ítulo 1">
            <a:extLst>
              <a:ext uri="{FF2B5EF4-FFF2-40B4-BE49-F238E27FC236}">
                <a16:creationId xmlns:a16="http://schemas.microsoft.com/office/drawing/2014/main" id="{F23E1C26-9D33-45AD-B3FB-45E9822F59E0}"/>
              </a:ext>
            </a:extLst>
          </p:cNvPr>
          <p:cNvSpPr txBox="1">
            <a:spLocks/>
          </p:cNvSpPr>
          <p:nvPr/>
        </p:nvSpPr>
        <p:spPr>
          <a:xfrm>
            <a:off x="7304567" y="4053384"/>
            <a:ext cx="4887433" cy="3870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dirty="0"/>
              <a:t>Indica el contenido del dictado de voz</a:t>
            </a:r>
          </a:p>
        </p:txBody>
      </p:sp>
      <p:sp>
        <p:nvSpPr>
          <p:cNvPr id="31" name="Título 1">
            <a:extLst>
              <a:ext uri="{FF2B5EF4-FFF2-40B4-BE49-F238E27FC236}">
                <a16:creationId xmlns:a16="http://schemas.microsoft.com/office/drawing/2014/main" id="{1B82EAC6-D03C-4A79-A025-25F23BAF5E7C}"/>
              </a:ext>
            </a:extLst>
          </p:cNvPr>
          <p:cNvSpPr txBox="1">
            <a:spLocks/>
          </p:cNvSpPr>
          <p:nvPr/>
        </p:nvSpPr>
        <p:spPr>
          <a:xfrm>
            <a:off x="7363710" y="4576048"/>
            <a:ext cx="4887433" cy="3870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sz="2400" dirty="0"/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ECD32383-1BB6-4AD5-8DFD-AE8B32C43A97}"/>
              </a:ext>
            </a:extLst>
          </p:cNvPr>
          <p:cNvCxnSpPr>
            <a:cxnSpLocks/>
          </p:cNvCxnSpPr>
          <p:nvPr/>
        </p:nvCxnSpPr>
        <p:spPr>
          <a:xfrm>
            <a:off x="4927523" y="5931093"/>
            <a:ext cx="0" cy="439829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ítulo 1">
            <a:extLst>
              <a:ext uri="{FF2B5EF4-FFF2-40B4-BE49-F238E27FC236}">
                <a16:creationId xmlns:a16="http://schemas.microsoft.com/office/drawing/2014/main" id="{C87F89D5-AB63-4656-A9A2-D4424B817F39}"/>
              </a:ext>
            </a:extLst>
          </p:cNvPr>
          <p:cNvSpPr txBox="1">
            <a:spLocks/>
          </p:cNvSpPr>
          <p:nvPr/>
        </p:nvSpPr>
        <p:spPr>
          <a:xfrm>
            <a:off x="2507196" y="6389828"/>
            <a:ext cx="4887433" cy="3870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dirty="0">
                <a:solidFill>
                  <a:schemeClr val="bg1"/>
                </a:solidFill>
              </a:rPr>
              <a:t>Indica salto de línea</a:t>
            </a: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2FC49340-29E5-4E4F-8A42-DEB4FFBE8000}"/>
              </a:ext>
            </a:extLst>
          </p:cNvPr>
          <p:cNvCxnSpPr>
            <a:cxnSpLocks/>
          </p:cNvCxnSpPr>
          <p:nvPr/>
        </p:nvCxnSpPr>
        <p:spPr>
          <a:xfrm>
            <a:off x="4253023" y="4756462"/>
            <a:ext cx="3572540" cy="1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ítulo 1">
            <a:extLst>
              <a:ext uri="{FF2B5EF4-FFF2-40B4-BE49-F238E27FC236}">
                <a16:creationId xmlns:a16="http://schemas.microsoft.com/office/drawing/2014/main" id="{43B06EEC-40F5-4A9F-A18F-D860524B0891}"/>
              </a:ext>
            </a:extLst>
          </p:cNvPr>
          <p:cNvSpPr txBox="1">
            <a:spLocks/>
          </p:cNvSpPr>
          <p:nvPr/>
        </p:nvSpPr>
        <p:spPr>
          <a:xfrm>
            <a:off x="7807934" y="4220342"/>
            <a:ext cx="3998983" cy="10497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dirty="0"/>
              <a:t>Es controlado por el </a:t>
            </a:r>
            <a:r>
              <a:rPr lang="es-MX" sz="2400" dirty="0" err="1"/>
              <a:t>css</a:t>
            </a:r>
            <a:r>
              <a:rPr lang="es-MX" sz="2400" dirty="0"/>
              <a:t> “imagen-bienvenida.css”</a:t>
            </a:r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14DCF215-8E3B-4132-A430-75B318DFE2EA}"/>
              </a:ext>
            </a:extLst>
          </p:cNvPr>
          <p:cNvCxnSpPr>
            <a:cxnSpLocks/>
          </p:cNvCxnSpPr>
          <p:nvPr/>
        </p:nvCxnSpPr>
        <p:spPr>
          <a:xfrm>
            <a:off x="2923289" y="614567"/>
            <a:ext cx="1511991" cy="6512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ítulo 1">
            <a:extLst>
              <a:ext uri="{FF2B5EF4-FFF2-40B4-BE49-F238E27FC236}">
                <a16:creationId xmlns:a16="http://schemas.microsoft.com/office/drawing/2014/main" id="{DD566674-780F-4786-9118-FA98C94CDA53}"/>
              </a:ext>
            </a:extLst>
          </p:cNvPr>
          <p:cNvSpPr txBox="1">
            <a:spLocks/>
          </p:cNvSpPr>
          <p:nvPr/>
        </p:nvSpPr>
        <p:spPr>
          <a:xfrm>
            <a:off x="4336976" y="253657"/>
            <a:ext cx="3224860" cy="80096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b="1" dirty="0">
                <a:solidFill>
                  <a:schemeClr val="bg1"/>
                </a:solidFill>
              </a:rPr>
              <a:t>2. Es controlado por el </a:t>
            </a:r>
            <a:r>
              <a:rPr lang="es-MX" sz="2400" b="1" dirty="0" err="1">
                <a:solidFill>
                  <a:schemeClr val="bg1"/>
                </a:solidFill>
              </a:rPr>
              <a:t>css</a:t>
            </a:r>
            <a:r>
              <a:rPr lang="es-MX" sz="2400" b="1" dirty="0">
                <a:solidFill>
                  <a:schemeClr val="bg1"/>
                </a:solidFill>
              </a:rPr>
              <a:t> </a:t>
            </a:r>
            <a:r>
              <a:rPr lang="es-MX" sz="2400" b="1" dirty="0" err="1">
                <a:solidFill>
                  <a:schemeClr val="bg1"/>
                </a:solidFill>
              </a:rPr>
              <a:t>header</a:t>
            </a:r>
            <a:endParaRPr lang="es-MX" sz="2400" b="1" dirty="0">
              <a:solidFill>
                <a:schemeClr val="bg1"/>
              </a:solidFill>
            </a:endParaRPr>
          </a:p>
        </p:txBody>
      </p:sp>
      <p:sp>
        <p:nvSpPr>
          <p:cNvPr id="50" name="Título 1">
            <a:extLst>
              <a:ext uri="{FF2B5EF4-FFF2-40B4-BE49-F238E27FC236}">
                <a16:creationId xmlns:a16="http://schemas.microsoft.com/office/drawing/2014/main" id="{A6EA2D5B-0513-4330-AF3B-2ED704C46A17}"/>
              </a:ext>
            </a:extLst>
          </p:cNvPr>
          <p:cNvSpPr txBox="1">
            <a:spLocks/>
          </p:cNvSpPr>
          <p:nvPr/>
        </p:nvSpPr>
        <p:spPr>
          <a:xfrm>
            <a:off x="972564" y="2962132"/>
            <a:ext cx="5018661" cy="5448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solidFill>
                  <a:schemeClr val="bg1"/>
                </a:solidFill>
              </a:rPr>
              <a:t>6. &lt;h1&gt; para modificar propiedades del título</a:t>
            </a:r>
          </a:p>
        </p:txBody>
      </p: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EBCC3022-96AA-48ED-AFEF-E911743F76AE}"/>
              </a:ext>
            </a:extLst>
          </p:cNvPr>
          <p:cNvCxnSpPr>
            <a:cxnSpLocks/>
          </p:cNvCxnSpPr>
          <p:nvPr/>
        </p:nvCxnSpPr>
        <p:spPr>
          <a:xfrm>
            <a:off x="2419350" y="2913531"/>
            <a:ext cx="285751" cy="234335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4A195688-A92E-4A55-A458-DAFA2DA5243A}"/>
              </a:ext>
            </a:extLst>
          </p:cNvPr>
          <p:cNvCxnSpPr/>
          <p:nvPr/>
        </p:nvCxnSpPr>
        <p:spPr>
          <a:xfrm>
            <a:off x="340963" y="741760"/>
            <a:ext cx="0" cy="38824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ítulo 1">
            <a:extLst>
              <a:ext uri="{FF2B5EF4-FFF2-40B4-BE49-F238E27FC236}">
                <a16:creationId xmlns:a16="http://schemas.microsoft.com/office/drawing/2014/main" id="{4786EB04-E3F6-4838-8CF1-36F61E409549}"/>
              </a:ext>
            </a:extLst>
          </p:cNvPr>
          <p:cNvSpPr txBox="1">
            <a:spLocks/>
          </p:cNvSpPr>
          <p:nvPr/>
        </p:nvSpPr>
        <p:spPr>
          <a:xfrm>
            <a:off x="287026" y="214086"/>
            <a:ext cx="3670825" cy="80096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600" b="1" dirty="0">
                <a:solidFill>
                  <a:schemeClr val="bg1"/>
                </a:solidFill>
              </a:rPr>
              <a:t>1. Espacio en el código que indica jerarquía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51DF8F8E-4E6D-4497-BC7C-0ACBD8558754}"/>
              </a:ext>
            </a:extLst>
          </p:cNvPr>
          <p:cNvCxnSpPr/>
          <p:nvPr/>
        </p:nvCxnSpPr>
        <p:spPr>
          <a:xfrm>
            <a:off x="733586" y="1336362"/>
            <a:ext cx="0" cy="38824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9FF803FD-5E39-49F2-8127-184BF0A5D8DF}"/>
              </a:ext>
            </a:extLst>
          </p:cNvPr>
          <p:cNvSpPr txBox="1">
            <a:spLocks/>
          </p:cNvSpPr>
          <p:nvPr/>
        </p:nvSpPr>
        <p:spPr>
          <a:xfrm>
            <a:off x="972563" y="3360592"/>
            <a:ext cx="5018661" cy="5448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solidFill>
                  <a:schemeClr val="bg1"/>
                </a:solidFill>
              </a:rPr>
              <a:t>h1 &gt;&gt; h2 &gt;&gt;h3 </a:t>
            </a:r>
          </a:p>
        </p:txBody>
      </p:sp>
    </p:spTree>
    <p:extLst>
      <p:ext uri="{BB962C8B-B14F-4D97-AF65-F5344CB8AC3E}">
        <p14:creationId xmlns:p14="http://schemas.microsoft.com/office/powerpoint/2010/main" val="430071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EC40B40-3F88-4C7B-9D15-506DDA376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9315"/>
            <a:ext cx="6713288" cy="3711844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A59CEBCA-2108-43BC-BC07-1B40831F766A}"/>
              </a:ext>
            </a:extLst>
          </p:cNvPr>
          <p:cNvSpPr txBox="1">
            <a:spLocks/>
          </p:cNvSpPr>
          <p:nvPr/>
        </p:nvSpPr>
        <p:spPr>
          <a:xfrm>
            <a:off x="6914181" y="0"/>
            <a:ext cx="4887433" cy="6858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4400" dirty="0"/>
              <a:t>El </a:t>
            </a:r>
            <a:r>
              <a:rPr lang="es-MX" sz="4400" b="1" dirty="0" err="1"/>
              <a:t>header</a:t>
            </a:r>
            <a:r>
              <a:rPr lang="es-MX" sz="4400" b="1" dirty="0"/>
              <a:t> </a:t>
            </a:r>
            <a:r>
              <a:rPr lang="es-MX" sz="4400" b="1" dirty="0" err="1"/>
              <a:t>class</a:t>
            </a:r>
            <a:r>
              <a:rPr lang="es-MX" sz="4400" b="1" dirty="0"/>
              <a:t> = “encabezado” </a:t>
            </a:r>
            <a:r>
              <a:rPr lang="es-MX" sz="4400" dirty="0"/>
              <a:t>es el elemento de mayor jerarquía en las líneas de código</a:t>
            </a:r>
            <a:r>
              <a:rPr lang="es-MX" sz="4400" b="1" dirty="0"/>
              <a:t>.</a:t>
            </a:r>
          </a:p>
          <a:p>
            <a:r>
              <a:rPr lang="es-MX" sz="4400" b="1" dirty="0">
                <a:solidFill>
                  <a:srgbClr val="0070C0"/>
                </a:solidFill>
              </a:rPr>
              <a:t>2. </a:t>
            </a:r>
            <a:r>
              <a:rPr lang="es-MX" sz="4400" dirty="0">
                <a:solidFill>
                  <a:srgbClr val="0070C0"/>
                </a:solidFill>
              </a:rPr>
              <a:t>Dentro de </a:t>
            </a:r>
            <a:r>
              <a:rPr lang="es-MX" sz="4400" b="1" dirty="0" err="1">
                <a:solidFill>
                  <a:srgbClr val="0070C0"/>
                </a:solidFill>
              </a:rPr>
              <a:t>header</a:t>
            </a:r>
            <a:r>
              <a:rPr lang="es-MX" sz="4400" b="1" dirty="0">
                <a:solidFill>
                  <a:srgbClr val="0070C0"/>
                </a:solidFill>
              </a:rPr>
              <a:t> </a:t>
            </a:r>
            <a:r>
              <a:rPr lang="es-MX" sz="4400" dirty="0">
                <a:solidFill>
                  <a:srgbClr val="0070C0"/>
                </a:solidFill>
              </a:rPr>
              <a:t>va </a:t>
            </a:r>
            <a:r>
              <a:rPr lang="es-MX" sz="4400" b="1" dirty="0">
                <a:solidFill>
                  <a:srgbClr val="0070C0"/>
                </a:solidFill>
              </a:rPr>
              <a:t>.contenedor-encabezado </a:t>
            </a:r>
            <a:r>
              <a:rPr lang="es-MX" sz="4400" dirty="0">
                <a:solidFill>
                  <a:srgbClr val="0070C0"/>
                </a:solidFill>
              </a:rPr>
              <a:t>por el espacio que existe en las líneas de código</a:t>
            </a:r>
            <a:r>
              <a:rPr lang="es-MX" sz="4400" dirty="0"/>
              <a:t>. </a:t>
            </a:r>
          </a:p>
          <a:p>
            <a:r>
              <a:rPr lang="es-MX" sz="4400" b="1" dirty="0"/>
              <a:t>3. </a:t>
            </a:r>
            <a:r>
              <a:rPr lang="es-MX" sz="4400" dirty="0"/>
              <a:t>Dentro de </a:t>
            </a:r>
            <a:r>
              <a:rPr lang="es-MX" sz="4400" b="1" dirty="0"/>
              <a:t>.contenedor-encabezado </a:t>
            </a:r>
            <a:r>
              <a:rPr lang="es-MX" sz="4400" dirty="0"/>
              <a:t>va adentro el logo y </a:t>
            </a:r>
            <a:r>
              <a:rPr lang="es-MX" sz="4400" dirty="0" err="1"/>
              <a:t>HCSJR</a:t>
            </a:r>
            <a:endParaRPr lang="es-MX" sz="4400" b="1" dirty="0"/>
          </a:p>
          <a:p>
            <a:endParaRPr lang="es-MX" sz="24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A99D94E-0B31-48E4-A49D-5A86DF01F018}"/>
              </a:ext>
            </a:extLst>
          </p:cNvPr>
          <p:cNvSpPr txBox="1"/>
          <p:nvPr/>
        </p:nvSpPr>
        <p:spPr>
          <a:xfrm>
            <a:off x="219139" y="477308"/>
            <a:ext cx="70728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/>
              <a:t>1. Jerarquía en el código </a:t>
            </a:r>
          </a:p>
        </p:txBody>
      </p:sp>
    </p:spTree>
    <p:extLst>
      <p:ext uri="{BB962C8B-B14F-4D97-AF65-F5344CB8AC3E}">
        <p14:creationId xmlns:p14="http://schemas.microsoft.com/office/powerpoint/2010/main" val="4078792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n 30">
            <a:extLst>
              <a:ext uri="{FF2B5EF4-FFF2-40B4-BE49-F238E27FC236}">
                <a16:creationId xmlns:a16="http://schemas.microsoft.com/office/drawing/2014/main" id="{21D40481-DBFB-412C-8FA4-36C7D82B3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67566"/>
            <a:ext cx="4380661" cy="5890433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CCEC4601-4A94-4D83-81E0-EA627FB9F58B}"/>
              </a:ext>
            </a:extLst>
          </p:cNvPr>
          <p:cNvSpPr txBox="1">
            <a:spLocks/>
          </p:cNvSpPr>
          <p:nvPr/>
        </p:nvSpPr>
        <p:spPr>
          <a:xfrm>
            <a:off x="4629151" y="1571626"/>
            <a:ext cx="7372349" cy="7048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endParaRPr lang="es-MX" sz="2800" dirty="0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73990BBA-D235-41B4-BEE5-958B2F51C206}"/>
              </a:ext>
            </a:extLst>
          </p:cNvPr>
          <p:cNvCxnSpPr>
            <a:cxnSpLocks/>
          </p:cNvCxnSpPr>
          <p:nvPr/>
        </p:nvCxnSpPr>
        <p:spPr>
          <a:xfrm>
            <a:off x="2986118" y="1809272"/>
            <a:ext cx="1905000" cy="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4AD659B-B19A-434F-ABB3-FBA9E02422FB}"/>
              </a:ext>
            </a:extLst>
          </p:cNvPr>
          <p:cNvSpPr txBox="1"/>
          <p:nvPr/>
        </p:nvSpPr>
        <p:spPr>
          <a:xfrm>
            <a:off x="4891118" y="743032"/>
            <a:ext cx="77324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MX" sz="1600" dirty="0"/>
              <a:t>Esta llave permite que se sobreponga el texto “</a:t>
            </a:r>
            <a:r>
              <a:rPr lang="es-MX" sz="1600" dirty="0" err="1"/>
              <a:t>HCSJR</a:t>
            </a:r>
            <a:r>
              <a:rPr lang="es-MX" sz="1600" dirty="0"/>
              <a:t>” y el logo de Guanajuato sobre la imagen de bienvenida</a:t>
            </a:r>
          </a:p>
          <a:p>
            <a:pPr>
              <a:spcAft>
                <a:spcPts val="600"/>
              </a:spcAft>
            </a:pPr>
            <a:r>
              <a:rPr lang="es-MX" sz="1600" dirty="0"/>
              <a:t>2. </a:t>
            </a:r>
            <a:r>
              <a:rPr lang="es-ES" sz="1600" dirty="0"/>
              <a:t>Permite colocar el encabezado sobre la imagen.</a:t>
            </a:r>
          </a:p>
          <a:p>
            <a:pPr>
              <a:spcAft>
                <a:spcPts val="600"/>
              </a:spcAft>
            </a:pPr>
            <a:r>
              <a:rPr lang="es-ES" sz="1600" dirty="0"/>
              <a:t>3 y 4. Lo posiciona en la esquina superior izquierda.</a:t>
            </a:r>
          </a:p>
          <a:p>
            <a:pPr>
              <a:spcAft>
                <a:spcPts val="600"/>
              </a:spcAft>
            </a:pPr>
            <a:r>
              <a:rPr lang="es-ES" sz="1600" dirty="0"/>
              <a:t>5. Hace que aparezca por encima de otros elementos.</a:t>
            </a:r>
          </a:p>
          <a:p>
            <a:pPr>
              <a:spcAft>
                <a:spcPts val="600"/>
              </a:spcAft>
            </a:pPr>
            <a:r>
              <a:rPr lang="es-ES" sz="1600" dirty="0"/>
              <a:t>6. permite ver la imagen que está detrás.</a:t>
            </a:r>
          </a:p>
          <a:p>
            <a:pPr>
              <a:spcAft>
                <a:spcPts val="600"/>
              </a:spcAft>
            </a:pPr>
            <a:r>
              <a:rPr lang="es-ES" sz="1600" dirty="0"/>
              <a:t>7. Hace que el encabezado ocupe todo el ancho disponible.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24799921-FA8F-411E-8747-B867A566D7DF}"/>
              </a:ext>
            </a:extLst>
          </p:cNvPr>
          <p:cNvCxnSpPr>
            <a:cxnSpLocks/>
          </p:cNvCxnSpPr>
          <p:nvPr/>
        </p:nvCxnSpPr>
        <p:spPr>
          <a:xfrm>
            <a:off x="2554563" y="3502534"/>
            <a:ext cx="1905000" cy="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29020293-6F72-436B-BD5A-DA86FEB105DC}"/>
              </a:ext>
            </a:extLst>
          </p:cNvPr>
          <p:cNvCxnSpPr>
            <a:cxnSpLocks/>
          </p:cNvCxnSpPr>
          <p:nvPr/>
        </p:nvCxnSpPr>
        <p:spPr>
          <a:xfrm>
            <a:off x="2986118" y="6000750"/>
            <a:ext cx="1905000" cy="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CC44650-DC4F-403C-8EE9-7DE7992FAE40}"/>
              </a:ext>
            </a:extLst>
          </p:cNvPr>
          <p:cNvSpPr txBox="1"/>
          <p:nvPr/>
        </p:nvSpPr>
        <p:spPr>
          <a:xfrm>
            <a:off x="4733644" y="3120013"/>
            <a:ext cx="84105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0070C0"/>
                </a:solidFill>
              </a:rPr>
              <a:t>12. Establece un ancho máximo </a:t>
            </a:r>
          </a:p>
          <a:p>
            <a:r>
              <a:rPr lang="es-MX" dirty="0">
                <a:solidFill>
                  <a:srgbClr val="0070C0"/>
                </a:solidFill>
              </a:rPr>
              <a:t>13. Utiliza ese espacio al 100%</a:t>
            </a:r>
          </a:p>
          <a:p>
            <a:r>
              <a:rPr lang="es-MX" dirty="0">
                <a:solidFill>
                  <a:srgbClr val="0070C0"/>
                </a:solidFill>
              </a:rPr>
              <a:t>14. Centra el contenedor horizontalmente</a:t>
            </a:r>
          </a:p>
          <a:p>
            <a:r>
              <a:rPr lang="es-MX" dirty="0">
                <a:solidFill>
                  <a:srgbClr val="0070C0"/>
                </a:solidFill>
              </a:rPr>
              <a:t>15. Coloca el logo y </a:t>
            </a:r>
            <a:r>
              <a:rPr lang="es-MX" dirty="0" err="1">
                <a:solidFill>
                  <a:srgbClr val="0070C0"/>
                </a:solidFill>
              </a:rPr>
              <a:t>HCSJR</a:t>
            </a:r>
            <a:r>
              <a:rPr lang="es-MX" dirty="0">
                <a:solidFill>
                  <a:srgbClr val="0070C0"/>
                </a:solidFill>
              </a:rPr>
              <a:t> en una misma fila</a:t>
            </a:r>
          </a:p>
          <a:p>
            <a:r>
              <a:rPr lang="es-MX" dirty="0">
                <a:solidFill>
                  <a:srgbClr val="0070C0"/>
                </a:solidFill>
              </a:rPr>
              <a:t>16. Alinea verticalmente los elementos</a:t>
            </a:r>
          </a:p>
          <a:p>
            <a:r>
              <a:rPr lang="es-MX" dirty="0">
                <a:solidFill>
                  <a:srgbClr val="0070C0"/>
                </a:solidFill>
              </a:rPr>
              <a:t>17. Mantiene los elementos hacia la izquierda.</a:t>
            </a:r>
          </a:p>
          <a:p>
            <a:endParaRPr lang="es-MX" dirty="0">
              <a:solidFill>
                <a:srgbClr val="0070C0"/>
              </a:solidFill>
            </a:endParaRPr>
          </a:p>
          <a:p>
            <a:endParaRPr lang="es-MX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862A253-4212-4CB4-9F5D-4D8A25509E2A}"/>
              </a:ext>
            </a:extLst>
          </p:cNvPr>
          <p:cNvSpPr txBox="1"/>
          <p:nvPr/>
        </p:nvSpPr>
        <p:spPr>
          <a:xfrm>
            <a:off x="5000594" y="5560237"/>
            <a:ext cx="8410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24. Establece el ancho del logo ya sea en </a:t>
            </a:r>
            <a:r>
              <a:rPr lang="es-MX" dirty="0" err="1"/>
              <a:t>px</a:t>
            </a:r>
            <a:r>
              <a:rPr lang="es-MX" dirty="0"/>
              <a:t> o en rem (1rem = 16px)</a:t>
            </a:r>
          </a:p>
          <a:p>
            <a:r>
              <a:rPr lang="es-MX" dirty="0"/>
              <a:t>25. Mantiene proporcionalmente su altura</a:t>
            </a:r>
          </a:p>
          <a:p>
            <a:r>
              <a:rPr lang="es-MX" dirty="0"/>
              <a:t>26. Evita que la imagen se deforme</a:t>
            </a:r>
          </a:p>
          <a:p>
            <a:r>
              <a:rPr lang="es-MX" dirty="0"/>
              <a:t> 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B494B9C3-0A03-4000-A0E9-77A4B13F01E0}"/>
              </a:ext>
            </a:extLst>
          </p:cNvPr>
          <p:cNvSpPr txBox="1"/>
          <p:nvPr/>
        </p:nvSpPr>
        <p:spPr>
          <a:xfrm>
            <a:off x="-1" y="170619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/>
              <a:t>2 .encabezado y 3.contenedor-encabezado y 5. </a:t>
            </a:r>
            <a:r>
              <a:rPr lang="es-MX" sz="2400" b="1" dirty="0" err="1"/>
              <a:t>class</a:t>
            </a:r>
            <a:r>
              <a:rPr lang="es-MX" sz="2400" b="1" dirty="0"/>
              <a:t>=“logo” recopila lo que debe tener el </a:t>
            </a:r>
            <a:r>
              <a:rPr lang="es-MX" sz="2400" b="1" dirty="0" err="1"/>
              <a:t>html</a:t>
            </a:r>
            <a:r>
              <a:rPr lang="es-MX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13656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CF8DA-6143-488F-BCCC-81F419B6F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22825"/>
            <a:ext cx="10515600" cy="1325563"/>
          </a:xfrm>
        </p:spPr>
        <p:txBody>
          <a:bodyPr/>
          <a:lstStyle/>
          <a:p>
            <a:r>
              <a:rPr lang="es-MX" b="1" dirty="0"/>
              <a:t>4. Insertar imágenes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47629B6-66A7-4F2A-858E-F3DF662385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12"/>
          <a:stretch/>
        </p:blipFill>
        <p:spPr>
          <a:xfrm>
            <a:off x="0" y="556808"/>
            <a:ext cx="6096000" cy="324100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73ED891-13B6-4DDD-A27C-4E3EA10AABB7}"/>
              </a:ext>
            </a:extLst>
          </p:cNvPr>
          <p:cNvSpPr txBox="1"/>
          <p:nvPr/>
        </p:nvSpPr>
        <p:spPr>
          <a:xfrm>
            <a:off x="514350" y="3905250"/>
            <a:ext cx="11163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MX" dirty="0"/>
              <a:t>En la carpeta que creamos de imágenes, hay que guardar las imágenes que queremos en nuestra página web</a:t>
            </a:r>
          </a:p>
          <a:p>
            <a:pPr marL="342900" indent="-342900">
              <a:buAutoNum type="arabicPeriod"/>
            </a:pPr>
            <a:r>
              <a:rPr lang="es-MX" dirty="0"/>
              <a:t>Con la estructura </a:t>
            </a:r>
            <a:r>
              <a:rPr lang="es-MX" b="1" dirty="0"/>
              <a:t>&lt;</a:t>
            </a:r>
            <a:r>
              <a:rPr lang="es-MX" b="1" dirty="0" err="1"/>
              <a:t>img</a:t>
            </a:r>
            <a:r>
              <a:rPr lang="es-MX" b="1" dirty="0"/>
              <a:t> </a:t>
            </a:r>
            <a:r>
              <a:rPr lang="es-MX" b="1" dirty="0" err="1"/>
              <a:t>src</a:t>
            </a:r>
            <a:r>
              <a:rPr lang="es-MX" b="1" dirty="0"/>
              <a:t>  =“Nombre de la carpeta/nombre de la imagen” </a:t>
            </a:r>
            <a:r>
              <a:rPr lang="es-MX" dirty="0"/>
              <a:t>se inserta la imagen que queremos </a:t>
            </a:r>
            <a:endParaRPr lang="es-MX" b="1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4926FA1-0220-44B2-B621-E22C03642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450" y="583951"/>
            <a:ext cx="4905375" cy="3213866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868F55A8-9F8A-4F96-BDBD-F91A4CE60D1C}"/>
              </a:ext>
            </a:extLst>
          </p:cNvPr>
          <p:cNvCxnSpPr/>
          <p:nvPr/>
        </p:nvCxnSpPr>
        <p:spPr>
          <a:xfrm>
            <a:off x="0" y="4551581"/>
            <a:ext cx="12268200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1D504FB-C824-48D5-AE89-09D3E6FF7955}"/>
              </a:ext>
            </a:extLst>
          </p:cNvPr>
          <p:cNvSpPr txBox="1"/>
          <p:nvPr/>
        </p:nvSpPr>
        <p:spPr>
          <a:xfrm>
            <a:off x="8710612" y="4714038"/>
            <a:ext cx="3609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 caso de que haya que cambiar el logo hay que modificar esta línea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341B6F0-F029-4BE7-98FB-0A65BB30F9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" y="4807061"/>
            <a:ext cx="8110996" cy="1494131"/>
          </a:xfrm>
          <a:prstGeom prst="rect">
            <a:avLst/>
          </a:prstGeom>
        </p:spPr>
      </p:pic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156FB8AC-8E7C-44E1-9B06-7A9EC3E5B1F4}"/>
              </a:ext>
            </a:extLst>
          </p:cNvPr>
          <p:cNvCxnSpPr/>
          <p:nvPr/>
        </p:nvCxnSpPr>
        <p:spPr>
          <a:xfrm flipV="1">
            <a:off x="5000625" y="5037203"/>
            <a:ext cx="3514725" cy="87247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466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CF8DA-6143-488F-BCCC-81F419B6F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61535"/>
            <a:ext cx="12191999" cy="1325563"/>
          </a:xfrm>
        </p:spPr>
        <p:txBody>
          <a:bodyPr>
            <a:normAutofit fontScale="90000"/>
          </a:bodyPr>
          <a:lstStyle/>
          <a:p>
            <a:r>
              <a:rPr lang="es-MX" sz="5400" b="1" dirty="0"/>
              <a:t>6. &lt;h1&gt; para modificar las propiedades del texto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04BD5A8-AA90-465C-A991-1280A3869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42940"/>
            <a:ext cx="6267718" cy="3133860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BC12D476-D336-42AF-82EF-993B1B529465}"/>
              </a:ext>
            </a:extLst>
          </p:cNvPr>
          <p:cNvCxnSpPr>
            <a:cxnSpLocks/>
          </p:cNvCxnSpPr>
          <p:nvPr/>
        </p:nvCxnSpPr>
        <p:spPr>
          <a:xfrm>
            <a:off x="6096000" y="2828925"/>
            <a:ext cx="466725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21E1ADA-1919-4258-8CBA-35456F7115A5}"/>
              </a:ext>
            </a:extLst>
          </p:cNvPr>
          <p:cNvSpPr txBox="1"/>
          <p:nvPr/>
        </p:nvSpPr>
        <p:spPr>
          <a:xfrm>
            <a:off x="6562724" y="1976965"/>
            <a:ext cx="56292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1. Es el tamaño del texto. La parte de </a:t>
            </a:r>
            <a:r>
              <a:rPr lang="es-MX" dirty="0">
                <a:solidFill>
                  <a:srgbClr val="0070C0"/>
                </a:solidFill>
              </a:rPr>
              <a:t>*</a:t>
            </a:r>
            <a:r>
              <a:rPr lang="es-MX" dirty="0" err="1">
                <a:solidFill>
                  <a:srgbClr val="0070C0"/>
                </a:solidFill>
              </a:rPr>
              <a:t>var</a:t>
            </a:r>
            <a:r>
              <a:rPr lang="es-MX" dirty="0">
                <a:solidFill>
                  <a:srgbClr val="0070C0"/>
                </a:solidFill>
              </a:rPr>
              <a:t>(--escala-texto)) </a:t>
            </a:r>
            <a:r>
              <a:rPr lang="es-MX" dirty="0"/>
              <a:t>se encarga de aumentar o disminuir el texto para facilitar la lectura en personas con dificultades visuales 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B29D4D66-9767-4A30-8028-0198924C6C7F}"/>
              </a:ext>
            </a:extLst>
          </p:cNvPr>
          <p:cNvCxnSpPr>
            <a:cxnSpLocks/>
          </p:cNvCxnSpPr>
          <p:nvPr/>
        </p:nvCxnSpPr>
        <p:spPr>
          <a:xfrm>
            <a:off x="2581275" y="3143250"/>
            <a:ext cx="3686442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CDFD31C-7DB9-418B-9A4B-8019216E34D2}"/>
              </a:ext>
            </a:extLst>
          </p:cNvPr>
          <p:cNvSpPr txBox="1"/>
          <p:nvPr/>
        </p:nvSpPr>
        <p:spPr>
          <a:xfrm>
            <a:off x="6429374" y="2929533"/>
            <a:ext cx="5629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Controla el grosor de la letra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7CBB5C7-46D0-4111-AD3A-649D5C4126D9}"/>
              </a:ext>
            </a:extLst>
          </p:cNvPr>
          <p:cNvSpPr txBox="1"/>
          <p:nvPr/>
        </p:nvSpPr>
        <p:spPr>
          <a:xfrm>
            <a:off x="6429374" y="3214806"/>
            <a:ext cx="5629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Controla el espaciado entre letras 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C9052B1F-09C3-4CB4-922B-3FEB34B769B3}"/>
              </a:ext>
            </a:extLst>
          </p:cNvPr>
          <p:cNvCxnSpPr>
            <a:cxnSpLocks/>
          </p:cNvCxnSpPr>
          <p:nvPr/>
        </p:nvCxnSpPr>
        <p:spPr>
          <a:xfrm>
            <a:off x="3552825" y="3390900"/>
            <a:ext cx="2776537" cy="3810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2905F792-F246-444F-9720-2A9E9A4E39FA}"/>
              </a:ext>
            </a:extLst>
          </p:cNvPr>
          <p:cNvCxnSpPr>
            <a:cxnSpLocks/>
          </p:cNvCxnSpPr>
          <p:nvPr/>
        </p:nvCxnSpPr>
        <p:spPr>
          <a:xfrm>
            <a:off x="5174455" y="3728969"/>
            <a:ext cx="1254919" cy="1905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C039D0A-3C96-4410-9E85-705CE06DA79B}"/>
              </a:ext>
            </a:extLst>
          </p:cNvPr>
          <p:cNvSpPr txBox="1"/>
          <p:nvPr/>
        </p:nvSpPr>
        <p:spPr>
          <a:xfrm>
            <a:off x="6458217" y="3533348"/>
            <a:ext cx="56292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Indica la tipografía, se asigna una fuente principal al principio y una secundaria en caso de que la principal no cargue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1E0EE8DB-3ED3-40C0-8A83-C1732D813E59}"/>
              </a:ext>
            </a:extLst>
          </p:cNvPr>
          <p:cNvCxnSpPr>
            <a:cxnSpLocks/>
          </p:cNvCxnSpPr>
          <p:nvPr/>
        </p:nvCxnSpPr>
        <p:spPr>
          <a:xfrm>
            <a:off x="2840830" y="4000500"/>
            <a:ext cx="807245" cy="695325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AD81CFE-E427-4168-A0E1-A81CF071626B}"/>
              </a:ext>
            </a:extLst>
          </p:cNvPr>
          <p:cNvSpPr txBox="1"/>
          <p:nvPr/>
        </p:nvSpPr>
        <p:spPr>
          <a:xfrm>
            <a:off x="3483902" y="4848391"/>
            <a:ext cx="56292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Es una forma abreviada de </a:t>
            </a:r>
          </a:p>
          <a:p>
            <a:r>
              <a:rPr lang="en-US" dirty="0"/>
              <a:t>margin-top: 0;</a:t>
            </a:r>
          </a:p>
          <a:p>
            <a:r>
              <a:rPr lang="en-US" dirty="0"/>
              <a:t>margin-right: 0;</a:t>
            </a:r>
          </a:p>
          <a:p>
            <a:r>
              <a:rPr lang="en-US" dirty="0"/>
              <a:t>margin-bottom: 0;</a:t>
            </a:r>
          </a:p>
          <a:p>
            <a:r>
              <a:rPr lang="en-US" dirty="0"/>
              <a:t>margin-left: 15px;</a:t>
            </a:r>
            <a:endParaRPr lang="es-MX" dirty="0"/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D1EC980B-FB90-46EE-9668-0A89449F5B47}"/>
              </a:ext>
            </a:extLst>
          </p:cNvPr>
          <p:cNvCxnSpPr>
            <a:cxnSpLocks/>
          </p:cNvCxnSpPr>
          <p:nvPr/>
        </p:nvCxnSpPr>
        <p:spPr>
          <a:xfrm>
            <a:off x="1515663" y="4456678"/>
            <a:ext cx="0" cy="562997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42D90AFC-7396-42F8-8E97-A5B47B513BF5}"/>
              </a:ext>
            </a:extLst>
          </p:cNvPr>
          <p:cNvSpPr txBox="1"/>
          <p:nvPr/>
        </p:nvSpPr>
        <p:spPr>
          <a:xfrm>
            <a:off x="190364" y="4936092"/>
            <a:ext cx="3054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Controla la altura de la línea</a:t>
            </a:r>
          </a:p>
        </p:txBody>
      </p:sp>
    </p:spTree>
    <p:extLst>
      <p:ext uri="{BB962C8B-B14F-4D97-AF65-F5344CB8AC3E}">
        <p14:creationId xmlns:p14="http://schemas.microsoft.com/office/powerpoint/2010/main" val="4156501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otón de accesibilidad ilustración del vector. Ilustración de médico -  4672120">
            <a:extLst>
              <a:ext uri="{FF2B5EF4-FFF2-40B4-BE49-F238E27FC236}">
                <a16:creationId xmlns:a16="http://schemas.microsoft.com/office/drawing/2014/main" id="{1A1E31E0-6238-474F-AA8C-AD7BE4DB3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8329" y="-90180"/>
            <a:ext cx="6917795" cy="7038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ED672EE2-673C-45A9-98AF-7F8538548A7C}"/>
              </a:ext>
            </a:extLst>
          </p:cNvPr>
          <p:cNvSpPr txBox="1">
            <a:spLocks/>
          </p:cNvSpPr>
          <p:nvPr/>
        </p:nvSpPr>
        <p:spPr>
          <a:xfrm>
            <a:off x="6739466" y="-318780"/>
            <a:ext cx="5952067" cy="31956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8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1.Bases de la accesibilidad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C83D1C5-85AB-456E-A883-CA631AE1BE4B}"/>
              </a:ext>
            </a:extLst>
          </p:cNvPr>
          <p:cNvSpPr txBox="1">
            <a:spLocks/>
          </p:cNvSpPr>
          <p:nvPr/>
        </p:nvSpPr>
        <p:spPr>
          <a:xfrm>
            <a:off x="6739466" y="2383325"/>
            <a:ext cx="5173133" cy="319563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7200" dirty="0"/>
              <a:t>¿Cómo aumentar y disminuir el texto? </a:t>
            </a:r>
          </a:p>
        </p:txBody>
      </p:sp>
    </p:spTree>
    <p:extLst>
      <p:ext uri="{BB962C8B-B14F-4D97-AF65-F5344CB8AC3E}">
        <p14:creationId xmlns:p14="http://schemas.microsoft.com/office/powerpoint/2010/main" val="2279811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6601563-4AED-49CE-A458-79C09CFD41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111"/>
          <a:stretch/>
        </p:blipFill>
        <p:spPr>
          <a:xfrm>
            <a:off x="0" y="0"/>
            <a:ext cx="12359615" cy="38481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3CC93E6-9136-495C-B04D-64F6366812F1}"/>
              </a:ext>
            </a:extLst>
          </p:cNvPr>
          <p:cNvSpPr txBox="1"/>
          <p:nvPr/>
        </p:nvSpPr>
        <p:spPr>
          <a:xfrm>
            <a:off x="1" y="3981450"/>
            <a:ext cx="1223724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En el </a:t>
            </a:r>
            <a:r>
              <a:rPr lang="es-MX" sz="4400" dirty="0" err="1"/>
              <a:t>html</a:t>
            </a:r>
            <a:r>
              <a:rPr lang="es-MX" sz="4400" dirty="0"/>
              <a:t>  la parte </a:t>
            </a:r>
            <a:r>
              <a:rPr lang="es-MX" sz="4400" b="1" dirty="0" err="1">
                <a:solidFill>
                  <a:srgbClr val="0070C0"/>
                </a:solidFill>
              </a:rPr>
              <a:t>onclick</a:t>
            </a:r>
            <a:r>
              <a:rPr lang="es-MX" sz="4400" b="1" dirty="0">
                <a:solidFill>
                  <a:srgbClr val="0070C0"/>
                </a:solidFill>
              </a:rPr>
              <a:t> </a:t>
            </a:r>
            <a:r>
              <a:rPr lang="es-MX" sz="4400" dirty="0"/>
              <a:t>detecta “cuando el usuario haga clic”  y llama a la función </a:t>
            </a:r>
            <a:r>
              <a:rPr lang="es-MX" sz="4400" dirty="0">
                <a:solidFill>
                  <a:srgbClr val="7030A0"/>
                </a:solidFill>
              </a:rPr>
              <a:t>“</a:t>
            </a:r>
            <a:r>
              <a:rPr lang="es-MX" sz="4400" dirty="0" err="1">
                <a:solidFill>
                  <a:srgbClr val="7030A0"/>
                </a:solidFill>
              </a:rPr>
              <a:t>aumentarTexto</a:t>
            </a:r>
            <a:r>
              <a:rPr lang="es-MX" sz="4400" dirty="0">
                <a:solidFill>
                  <a:srgbClr val="7030A0"/>
                </a:solidFill>
              </a:rPr>
              <a:t>()” </a:t>
            </a:r>
            <a:r>
              <a:rPr lang="es-MX" sz="4400" dirty="0"/>
              <a:t>que esta en el java de ACCESIBILIDAD</a:t>
            </a:r>
            <a:r>
              <a:rPr lang="es-MX" sz="4400" dirty="0">
                <a:solidFill>
                  <a:srgbClr val="7030A0"/>
                </a:solidFill>
              </a:rPr>
              <a:t> </a:t>
            </a:r>
            <a:r>
              <a:rPr lang="es-MX" sz="4400" b="1" dirty="0">
                <a:solidFill>
                  <a:srgbClr val="7030A0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79235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89E5E01-2EBD-413E-BC81-A86FC0502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25566" cy="6858000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FFDC875B-5B5A-4632-8EC8-D39B7F99F152}"/>
              </a:ext>
            </a:extLst>
          </p:cNvPr>
          <p:cNvCxnSpPr>
            <a:cxnSpLocks/>
          </p:cNvCxnSpPr>
          <p:nvPr/>
        </p:nvCxnSpPr>
        <p:spPr>
          <a:xfrm>
            <a:off x="2995863" y="228600"/>
            <a:ext cx="4174958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02929124-1D6F-401B-8CB3-468EB905DF8F}"/>
              </a:ext>
            </a:extLst>
          </p:cNvPr>
          <p:cNvSpPr txBox="1"/>
          <p:nvPr/>
        </p:nvSpPr>
        <p:spPr>
          <a:xfrm>
            <a:off x="7264932" y="43934"/>
            <a:ext cx="4927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Valor inicial de la escala de texto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1CF9E4B2-627C-4FEE-9644-B108E955BCEA}"/>
              </a:ext>
            </a:extLst>
          </p:cNvPr>
          <p:cNvCxnSpPr>
            <a:cxnSpLocks/>
          </p:cNvCxnSpPr>
          <p:nvPr/>
        </p:nvCxnSpPr>
        <p:spPr>
          <a:xfrm>
            <a:off x="3641557" y="1524000"/>
            <a:ext cx="3529264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1B21785-0185-4574-94E4-B4A9CD01420B}"/>
              </a:ext>
            </a:extLst>
          </p:cNvPr>
          <p:cNvSpPr txBox="1"/>
          <p:nvPr/>
        </p:nvSpPr>
        <p:spPr>
          <a:xfrm>
            <a:off x="7170821" y="727894"/>
            <a:ext cx="502117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rgbClr val="0070C0"/>
                </a:solidFill>
              </a:rPr>
              <a:t>Actualiza la variable CSS –escala-texto para que todos los elementos accesibles cambien de tamaño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070C649-80AA-4C28-968A-29C80B0E82E2}"/>
              </a:ext>
            </a:extLst>
          </p:cNvPr>
          <p:cNvSpPr txBox="1"/>
          <p:nvPr/>
        </p:nvSpPr>
        <p:spPr>
          <a:xfrm>
            <a:off x="7070557" y="2666137"/>
            <a:ext cx="50211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/>
              <a:t>Aumenta el tamaño del texto en un 10% cada vez que se da </a:t>
            </a:r>
            <a:r>
              <a:rPr lang="es-MX" sz="3600" dirty="0" err="1"/>
              <a:t>click</a:t>
            </a:r>
            <a:endParaRPr lang="es-MX" sz="36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8B90AED-9A3E-4D4F-99C4-8AC352A30D94}"/>
              </a:ext>
            </a:extLst>
          </p:cNvPr>
          <p:cNvSpPr txBox="1"/>
          <p:nvPr/>
        </p:nvSpPr>
        <p:spPr>
          <a:xfrm>
            <a:off x="7395410" y="4542824"/>
            <a:ext cx="50211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dirty="0">
                <a:solidFill>
                  <a:srgbClr val="0070C0"/>
                </a:solidFill>
              </a:rPr>
              <a:t>Disminuye el tamaño del texto hasta un mínimo del 80% 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462D1184-9614-42B9-8098-C44E395BA5A5}"/>
              </a:ext>
            </a:extLst>
          </p:cNvPr>
          <p:cNvCxnSpPr>
            <a:cxnSpLocks/>
          </p:cNvCxnSpPr>
          <p:nvPr/>
        </p:nvCxnSpPr>
        <p:spPr>
          <a:xfrm>
            <a:off x="3641557" y="3713748"/>
            <a:ext cx="3529264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C536D61B-5EC7-4A12-BE71-8FE55DD09EAD}"/>
              </a:ext>
            </a:extLst>
          </p:cNvPr>
          <p:cNvCxnSpPr>
            <a:cxnSpLocks/>
          </p:cNvCxnSpPr>
          <p:nvPr/>
        </p:nvCxnSpPr>
        <p:spPr>
          <a:xfrm>
            <a:off x="3641557" y="5791201"/>
            <a:ext cx="3529264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463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0672AE2-C95B-477F-B771-AE284126AC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10"/>
          <a:stretch/>
        </p:blipFill>
        <p:spPr>
          <a:xfrm>
            <a:off x="-930441" y="0"/>
            <a:ext cx="13157584" cy="484471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91D86BD-DBC2-4829-A371-8BE8A1A8FFC5}"/>
              </a:ext>
            </a:extLst>
          </p:cNvPr>
          <p:cNvSpPr txBox="1"/>
          <p:nvPr/>
        </p:nvSpPr>
        <p:spPr>
          <a:xfrm>
            <a:off x="0" y="4844716"/>
            <a:ext cx="126251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:</a:t>
            </a:r>
            <a:r>
              <a:rPr lang="es-MX" sz="2800" b="1" dirty="0" err="1"/>
              <a:t>root</a:t>
            </a:r>
            <a:r>
              <a:rPr lang="es-MX" sz="2800" b="1" dirty="0"/>
              <a:t> </a:t>
            </a:r>
            <a:r>
              <a:rPr lang="es-MX" sz="2800" dirty="0"/>
              <a:t>crea la variable y le da un valor inicial para que JavaScript pueda modificarla y CSS pueda utilizarla </a:t>
            </a:r>
            <a:endParaRPr lang="es-MX" sz="28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5D0203C-7D3F-4AF5-BFFE-805CD2E86EA2}"/>
              </a:ext>
            </a:extLst>
          </p:cNvPr>
          <p:cNvSpPr txBox="1"/>
          <p:nvPr/>
        </p:nvSpPr>
        <p:spPr>
          <a:xfrm>
            <a:off x="-1" y="5798823"/>
            <a:ext cx="126251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:</a:t>
            </a:r>
            <a:r>
              <a:rPr lang="es-MX" sz="2800" b="1" dirty="0" err="1"/>
              <a:t>body</a:t>
            </a:r>
            <a:r>
              <a:rPr lang="es-MX" sz="2800" b="1" dirty="0"/>
              <a:t> </a:t>
            </a:r>
            <a:r>
              <a:rPr lang="es-MX" sz="2800" dirty="0"/>
              <a:t>utiliza el valor que se genero anteriormente en java (--escala-texto) para determinar el tamaño que se verá en el resto de la página. </a:t>
            </a:r>
            <a:endParaRPr lang="es-MX" sz="2800" b="1" dirty="0"/>
          </a:p>
        </p:txBody>
      </p:sp>
    </p:spTree>
    <p:extLst>
      <p:ext uri="{BB962C8B-B14F-4D97-AF65-F5344CB8AC3E}">
        <p14:creationId xmlns:p14="http://schemas.microsoft.com/office/powerpoint/2010/main" val="3482899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9ABF2DA-4B7E-45AA-988E-D41565255BBF}"/>
              </a:ext>
            </a:extLst>
          </p:cNvPr>
          <p:cNvSpPr txBox="1"/>
          <p:nvPr/>
        </p:nvSpPr>
        <p:spPr>
          <a:xfrm>
            <a:off x="0" y="16042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/>
              <a:t>¿Cómo asignar un tamaño correcto a las fuentes y las imágenes?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0EBFB2E-FE4D-404E-AC56-1C4F1F34B189}"/>
              </a:ext>
            </a:extLst>
          </p:cNvPr>
          <p:cNvSpPr txBox="1"/>
          <p:nvPr/>
        </p:nvSpPr>
        <p:spPr>
          <a:xfrm>
            <a:off x="0" y="745196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En Google sites es muy fácil decidir que tamaño de letra e imagen queremos, pero al momento de programar es más complicado, para facilitar la tarea, hay que acceder a la página original, buscar lo que queremos replicar, dar clic derecho y seleccionar inspeccionar. </a:t>
            </a:r>
          </a:p>
          <a:p>
            <a:r>
              <a:rPr lang="es-MX" sz="2800" dirty="0"/>
              <a:t>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1A96C75-4D06-4BA4-BF0D-4BD95D7B2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6853"/>
            <a:ext cx="9186654" cy="436114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AE5E6D23-E0A7-4ADA-9523-4DA1295CE0F0}"/>
              </a:ext>
            </a:extLst>
          </p:cNvPr>
          <p:cNvSpPr txBox="1"/>
          <p:nvPr/>
        </p:nvSpPr>
        <p:spPr>
          <a:xfrm>
            <a:off x="9361713" y="2496853"/>
            <a:ext cx="283028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rgbClr val="0070C0"/>
                </a:solidFill>
              </a:rPr>
              <a:t>En este caso el cuadro azul indica el tamaño de la imagen, por eso programamos nuestro imagen con 5.14 rem que es equivalente a 82 </a:t>
            </a:r>
            <a:r>
              <a:rPr lang="es-MX" sz="2800" dirty="0" err="1">
                <a:solidFill>
                  <a:srgbClr val="0070C0"/>
                </a:solidFill>
              </a:rPr>
              <a:t>px</a:t>
            </a:r>
            <a:endParaRPr lang="es-MX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1934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3CAA0D9-7797-4C4A-B4A6-2EE98A7AC3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5476"/>
          <a:stretch/>
        </p:blipFill>
        <p:spPr>
          <a:xfrm>
            <a:off x="0" y="0"/>
            <a:ext cx="7437785" cy="685800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9E55801-DCB5-4638-A2A2-D6F46B5E6702}"/>
              </a:ext>
            </a:extLst>
          </p:cNvPr>
          <p:cNvSpPr txBox="1"/>
          <p:nvPr/>
        </p:nvSpPr>
        <p:spPr>
          <a:xfrm>
            <a:off x="7437785" y="0"/>
            <a:ext cx="4536312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/>
              <a:t>Al seleccionar el texto a inspeccionar se ven sus respectivas propiedades. Son muchas así que las que se usan en el programa son: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/>
              <a:t>Color (todos)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/>
              <a:t>Font-</a:t>
            </a:r>
            <a:r>
              <a:rPr lang="es-MX" sz="3200" dirty="0" err="1"/>
              <a:t>family</a:t>
            </a:r>
            <a:r>
              <a:rPr lang="es-MX" sz="3200" dirty="0"/>
              <a:t> (todos)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/>
              <a:t>Font-</a:t>
            </a:r>
            <a:r>
              <a:rPr lang="es-MX" sz="3200" dirty="0" err="1"/>
              <a:t>size</a:t>
            </a:r>
            <a:r>
              <a:rPr lang="es-MX" sz="3200" dirty="0"/>
              <a:t> (todos)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/>
              <a:t>Font-</a:t>
            </a:r>
            <a:r>
              <a:rPr lang="es-MX" sz="3200" dirty="0" err="1"/>
              <a:t>weight</a:t>
            </a:r>
            <a:r>
              <a:rPr lang="es-MX" sz="3200" dirty="0"/>
              <a:t> (todos)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 err="1"/>
              <a:t>Padding</a:t>
            </a:r>
            <a:r>
              <a:rPr lang="es-MX" sz="3200" dirty="0"/>
              <a:t> (todos)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/>
              <a:t>Line-</a:t>
            </a:r>
            <a:r>
              <a:rPr lang="es-MX" sz="3200" dirty="0" err="1"/>
              <a:t>height</a:t>
            </a:r>
            <a:r>
              <a:rPr lang="es-MX" sz="3200" dirty="0"/>
              <a:t> (algunos)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/>
              <a:t>Max-</a:t>
            </a:r>
            <a:r>
              <a:rPr lang="es-MX" sz="3200" dirty="0" err="1"/>
              <a:t>width</a:t>
            </a:r>
            <a:r>
              <a:rPr lang="es-MX" sz="3200" dirty="0"/>
              <a:t> (algunos)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 err="1"/>
              <a:t>Width</a:t>
            </a:r>
            <a:r>
              <a:rPr lang="es-MX" sz="3200" dirty="0"/>
              <a:t> (algunos)</a:t>
            </a:r>
          </a:p>
        </p:txBody>
      </p:sp>
    </p:spTree>
    <p:extLst>
      <p:ext uri="{BB962C8B-B14F-4D97-AF65-F5344CB8AC3E}">
        <p14:creationId xmlns:p14="http://schemas.microsoft.com/office/powerpoint/2010/main" val="12044895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1046</Words>
  <Application>Microsoft Office PowerPoint</Application>
  <PresentationFormat>Panorámica</PresentationFormat>
  <Paragraphs>87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Tema de Office</vt:lpstr>
      <vt:lpstr>Botón de accesibilidad</vt:lpstr>
      <vt:lpstr>Presentación de PowerPoint</vt:lpstr>
      <vt:lpstr>Ya vimos que el HTML es la base de la página, y necesita configurarse así al principio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4. Insertar imágenes</vt:lpstr>
      <vt:lpstr>6. &lt;h1&gt; para modificar las propiedades del texto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Botón de accesibilidad</dc:title>
  <dc:creator>INVENTARIOS</dc:creator>
  <cp:lastModifiedBy>INVENTARIOS</cp:lastModifiedBy>
  <cp:revision>32</cp:revision>
  <dcterms:created xsi:type="dcterms:W3CDTF">2026-08-11T18:15:31Z</dcterms:created>
  <dcterms:modified xsi:type="dcterms:W3CDTF">2026-08-12T19:17:52Z</dcterms:modified>
</cp:coreProperties>
</file>