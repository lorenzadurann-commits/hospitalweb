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73" r:id="rId7"/>
    <p:sldId id="259" r:id="rId8"/>
    <p:sldId id="263" r:id="rId9"/>
    <p:sldId id="260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B83"/>
    <a:srgbClr val="548235"/>
    <a:srgbClr val="1213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DB11E-C9DF-4DDC-BF8C-5A7D3AEA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17D076-6252-42DA-9D52-0F034E566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922079-586B-4E7E-8B4C-21A4F0015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5FF39-3FE8-4520-9A89-94337A1F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0841FE-33CF-471A-BCA9-AFC1E0C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294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D2C1D-00F2-4E80-B5EC-F9B4EC76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B86EE-A520-4938-BBFC-308E4E9B4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C9DEE-DA8C-46B8-A466-838A33CD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D0A46-0327-4812-BF88-48AAB9C4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C58F7-A027-4990-985A-33D7A252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74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F0B98-20C0-4382-ACA0-7F225FDD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24651-DCDB-4A89-8CC9-9D2881A49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E5FE3-A654-4F3F-8C1F-08771815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E3138-AA6F-45AB-A6F4-29E527D4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14F0B-1CCD-40CF-8969-EB6520BB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56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1F4CB-FE26-4211-9D9E-77D28E3B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B7E02-50FB-424D-B0D3-C4315ACF0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600DB3-D558-41E5-BBA3-81252DB93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48A702-E385-440C-B23E-E78E4FBC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64824C-91FD-479E-99BA-178A5779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FEC80C-FF8D-4467-A7F3-58C50DB1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977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CED42-C68E-4147-AA71-D501FDA9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0B5416-F2E4-4DE3-AB59-C247E75C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021BB-9D6F-4014-B30D-BBAD1141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D349C3-E307-4620-8073-8454BD3DE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13D91D-62CF-42E2-8CF8-5F5FB05A6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9C7D113-EAB3-42AE-AEFB-7A205242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87A07C-093D-4E96-97AA-61D9483C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698BD7-289F-49F8-8B6C-A18EFD62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078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4615-DC4A-4C09-B01E-D9C5E896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99650B-5147-4C16-B324-46C10496B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D53A37-15DB-4430-8927-4C92E093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BCBFD-CB90-4A34-BEFB-0C4B1F8E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466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7949BE-23D4-45ED-982E-87E5E550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269633-1D51-4A32-A9C7-BDEFC8D6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B73C6B-CEAC-4893-B7E9-50FCED9D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47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FE340-E118-40BC-80FF-67F3F096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4DE572-55FB-4CD1-80B7-4F5B79E1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034735-07AE-432A-9743-E6C85E0DF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CE96B-AC63-44E7-B7F9-80B880A7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4FFCD9-0D95-466B-B1C1-11A2C3B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0B1032-3F2D-463A-89F0-6557D2CD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00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C350B-9D66-4CDE-B1B4-A91ED99B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391096-991C-4D66-B5E8-117284D56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648566-8850-4B1F-92D6-945B619D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9E5BF0-D6A4-4C40-ACB3-63566680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15B60-1D3F-4A71-8C46-D0758993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C15301-B5C1-40C8-B7BC-6210D325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106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6F721-61E3-4117-948F-0084F836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1AB4C5-F4F2-4888-93D5-5A20A59B7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16FDE-55AD-4D67-A363-1CDC8D32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105C3-451F-433F-A27A-2257D38B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90528E-B5F1-4B8F-9F78-E82055B6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370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AF5760-7C75-4EE4-8C5D-FDEE6231A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F941D-FEBD-4D7E-AB31-C252D5B2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085A6-B77C-4C8B-9B0D-830E5485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0D150A-43B9-46AA-8703-FBF8758F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CCEF45-D74A-4970-BFDB-61E4291E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39EA8B-42ED-4EF0-BD9D-B112EE68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626D5B-AAB0-4FB4-8F9C-D3EF783B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3871ED-2133-48DE-AFD7-506CF27E4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F4D3E-34FE-40CA-BBCE-E9B2AA46D901}" type="datetimeFigureOut">
              <a:rPr lang="es-MX" smtClean="0"/>
              <a:t>12/08/2026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75052-FC4D-4F13-B6D3-60B0EBC00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1981E-3FCB-46D8-A905-48262C301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B313F-44E0-444F-BD09-6608A80020A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478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3ECBD-8E4A-4071-8C7C-9AD0CCB03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72071"/>
          </a:xfrm>
        </p:spPr>
        <p:txBody>
          <a:bodyPr>
            <a:noAutofit/>
          </a:bodyPr>
          <a:lstStyle/>
          <a:p>
            <a:r>
              <a:rPr lang="es-MX" sz="8000" b="1" dirty="0">
                <a:solidFill>
                  <a:srgbClr val="0F8B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</a:t>
            </a:r>
            <a:r>
              <a:rPr lang="es-MX" sz="8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MX" sz="8000" b="1" dirty="0">
                <a:solidFill>
                  <a:srgbClr val="0F8B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botones verdes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CF2698-5B7D-44C8-B7BE-A8D70B3CB4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91" b="7603"/>
          <a:stretch/>
        </p:blipFill>
        <p:spPr>
          <a:xfrm>
            <a:off x="0" y="2603715"/>
            <a:ext cx="12192000" cy="163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0EF771-A6F5-4EFE-B2B4-DFDA475F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49500" cy="6858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9CE7D06-0CCE-44DE-80BA-4AABAF006091}"/>
              </a:ext>
            </a:extLst>
          </p:cNvPr>
          <p:cNvSpPr txBox="1">
            <a:spLocks/>
          </p:cNvSpPr>
          <p:nvPr/>
        </p:nvSpPr>
        <p:spPr>
          <a:xfrm>
            <a:off x="2666999" y="0"/>
            <a:ext cx="9186334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400" dirty="0"/>
              <a:t>Este programa esta basado en varios tipos de programas (HTML, java y </a:t>
            </a:r>
            <a:r>
              <a:rPr lang="es-MX" sz="4400" dirty="0" err="1"/>
              <a:t>css</a:t>
            </a:r>
            <a:r>
              <a:rPr lang="es-MX" sz="4400" dirty="0"/>
              <a:t>)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D425335-41F1-427A-9F67-6AC71ADB2836}"/>
              </a:ext>
            </a:extLst>
          </p:cNvPr>
          <p:cNvCxnSpPr/>
          <p:nvPr/>
        </p:nvCxnSpPr>
        <p:spPr>
          <a:xfrm flipH="1">
            <a:off x="4013200" y="1456267"/>
            <a:ext cx="2201333" cy="79586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116DCB7-5D9E-473C-9407-05BC6123FC44}"/>
              </a:ext>
            </a:extLst>
          </p:cNvPr>
          <p:cNvCxnSpPr>
            <a:cxnSpLocks/>
          </p:cNvCxnSpPr>
          <p:nvPr/>
        </p:nvCxnSpPr>
        <p:spPr>
          <a:xfrm>
            <a:off x="7260166" y="1456267"/>
            <a:ext cx="0" cy="107526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8E81104-1AD5-44E9-BCA7-9A4180FC8FCD}"/>
              </a:ext>
            </a:extLst>
          </p:cNvPr>
          <p:cNvCxnSpPr>
            <a:cxnSpLocks/>
          </p:cNvCxnSpPr>
          <p:nvPr/>
        </p:nvCxnSpPr>
        <p:spPr>
          <a:xfrm>
            <a:off x="8305800" y="1397000"/>
            <a:ext cx="2099733" cy="9144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ECF7EA14-9A05-4B81-896C-B5068DBC9AC4}"/>
              </a:ext>
            </a:extLst>
          </p:cNvPr>
          <p:cNvSpPr txBox="1">
            <a:spLocks/>
          </p:cNvSpPr>
          <p:nvPr/>
        </p:nvSpPr>
        <p:spPr>
          <a:xfrm>
            <a:off x="2404693" y="2227520"/>
            <a:ext cx="3287024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/>
              <a:t>HTML </a:t>
            </a:r>
            <a:r>
              <a:rPr lang="es-MX" sz="2800" dirty="0"/>
              <a:t>da la estructura y el contenido a una página web. 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A767B6D-9B1B-47CA-93BD-1FFCC8F2EF8A}"/>
              </a:ext>
            </a:extLst>
          </p:cNvPr>
          <p:cNvSpPr txBox="1">
            <a:spLocks/>
          </p:cNvSpPr>
          <p:nvPr/>
        </p:nvSpPr>
        <p:spPr>
          <a:xfrm>
            <a:off x="6214533" y="2522434"/>
            <a:ext cx="2099732" cy="8328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/>
              <a:t>Java </a:t>
            </a:r>
            <a:r>
              <a:rPr lang="es-MX" sz="2800" dirty="0"/>
              <a:t>añade interactividad </a:t>
            </a:r>
            <a:endParaRPr lang="es-MX" sz="2800" b="1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7682769-A50A-42ED-9DCB-C5940BCC1511}"/>
              </a:ext>
            </a:extLst>
          </p:cNvPr>
          <p:cNvCxnSpPr>
            <a:cxnSpLocks/>
          </p:cNvCxnSpPr>
          <p:nvPr/>
        </p:nvCxnSpPr>
        <p:spPr>
          <a:xfrm>
            <a:off x="3863075" y="3515863"/>
            <a:ext cx="0" cy="89365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BB60EC7A-0ADB-409E-9341-07533D22C2C4}"/>
              </a:ext>
            </a:extLst>
          </p:cNvPr>
          <p:cNvSpPr txBox="1">
            <a:spLocks/>
          </p:cNvSpPr>
          <p:nvPr/>
        </p:nvSpPr>
        <p:spPr>
          <a:xfrm>
            <a:off x="2200229" y="4407797"/>
            <a:ext cx="3695952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/>
              <a:t>Por eso solo es necesario un HTML pero este al contener toda la página necesita más de 800 líneas 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E312B00-6451-4D49-9C7A-152E74198D22}"/>
              </a:ext>
            </a:extLst>
          </p:cNvPr>
          <p:cNvSpPr txBox="1">
            <a:spLocks/>
          </p:cNvSpPr>
          <p:nvPr/>
        </p:nvSpPr>
        <p:spPr>
          <a:xfrm>
            <a:off x="5896181" y="4407797"/>
            <a:ext cx="3161476" cy="12900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dirty="0"/>
              <a:t>Es el lenguaje responsable del botón de accesibilidad y de los distintos carruseles 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A45FA80-785C-4B8A-9F27-ED679F865D0A}"/>
              </a:ext>
            </a:extLst>
          </p:cNvPr>
          <p:cNvCxnSpPr>
            <a:cxnSpLocks/>
          </p:cNvCxnSpPr>
          <p:nvPr/>
        </p:nvCxnSpPr>
        <p:spPr>
          <a:xfrm>
            <a:off x="7290495" y="3355298"/>
            <a:ext cx="0" cy="116211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E93D0948-AA70-4C48-AAB6-136BC2F242EF}"/>
              </a:ext>
            </a:extLst>
          </p:cNvPr>
          <p:cNvSpPr txBox="1">
            <a:spLocks/>
          </p:cNvSpPr>
          <p:nvPr/>
        </p:nvSpPr>
        <p:spPr>
          <a:xfrm>
            <a:off x="9495826" y="2197487"/>
            <a:ext cx="2444177" cy="11621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 err="1"/>
              <a:t>Css</a:t>
            </a:r>
            <a:r>
              <a:rPr lang="es-MX" sz="2400" dirty="0"/>
              <a:t> controla el diseño, los colores y la apariencia visual </a:t>
            </a:r>
            <a:r>
              <a:rPr lang="es-MX" sz="2400" b="1" dirty="0"/>
              <a:t> 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DA81AD50-76C6-4C1E-985B-AC90BCE1CE4A}"/>
              </a:ext>
            </a:extLst>
          </p:cNvPr>
          <p:cNvCxnSpPr>
            <a:cxnSpLocks/>
          </p:cNvCxnSpPr>
          <p:nvPr/>
        </p:nvCxnSpPr>
        <p:spPr>
          <a:xfrm>
            <a:off x="10717914" y="3429000"/>
            <a:ext cx="0" cy="1188381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74FC3D5F-75E5-4A99-AF7D-7E34C14B33CE}"/>
              </a:ext>
            </a:extLst>
          </p:cNvPr>
          <p:cNvSpPr txBox="1">
            <a:spLocks/>
          </p:cNvSpPr>
          <p:nvPr/>
        </p:nvSpPr>
        <p:spPr>
          <a:xfrm>
            <a:off x="9442862" y="4686783"/>
            <a:ext cx="2598523" cy="1290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/>
              <a:t>Es el que más archivos tiene debido a las distintas secciones que tiene la pagina original</a:t>
            </a:r>
          </a:p>
        </p:txBody>
      </p:sp>
    </p:spTree>
    <p:extLst>
      <p:ext uri="{BB962C8B-B14F-4D97-AF65-F5344CB8AC3E}">
        <p14:creationId xmlns:p14="http://schemas.microsoft.com/office/powerpoint/2010/main" val="300347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232352-0B83-473B-9E06-55937A80D1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87"/>
          <a:stretch/>
        </p:blipFill>
        <p:spPr>
          <a:xfrm>
            <a:off x="0" y="-32343"/>
            <a:ext cx="12192000" cy="68903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4817C3C-EEB9-4587-9C43-70C6C563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5162" y="154887"/>
            <a:ext cx="3599479" cy="1774208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</a:rPr>
              <a:t>Ya vimos que el HTML es la base de la página, y necesita configurarse así al principio</a:t>
            </a: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F5D1D1BD-5937-4A37-B9F4-047DEBD2B96D}"/>
              </a:ext>
            </a:extLst>
          </p:cNvPr>
          <p:cNvSpPr/>
          <p:nvPr/>
        </p:nvSpPr>
        <p:spPr>
          <a:xfrm>
            <a:off x="5431808" y="0"/>
            <a:ext cx="277875" cy="1041991"/>
          </a:xfrm>
          <a:prstGeom prst="rightBrac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C92181-C439-47EB-8D6B-162428A57C3F}"/>
              </a:ext>
            </a:extLst>
          </p:cNvPr>
          <p:cNvSpPr txBox="1"/>
          <p:nvPr/>
        </p:nvSpPr>
        <p:spPr>
          <a:xfrm>
            <a:off x="6095999" y="110022"/>
            <a:ext cx="2047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bg1"/>
                </a:solidFill>
              </a:rPr>
              <a:t>Protocolo de HTML 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47C8320-502A-413F-BA45-224B612E0066}"/>
              </a:ext>
            </a:extLst>
          </p:cNvPr>
          <p:cNvCxnSpPr/>
          <p:nvPr/>
        </p:nvCxnSpPr>
        <p:spPr>
          <a:xfrm>
            <a:off x="5224130" y="1307804"/>
            <a:ext cx="871869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D0DFA1-BA8A-449E-B1B2-F3F46D2B918D}"/>
              </a:ext>
            </a:extLst>
          </p:cNvPr>
          <p:cNvSpPr txBox="1"/>
          <p:nvPr/>
        </p:nvSpPr>
        <p:spPr>
          <a:xfrm>
            <a:off x="6137457" y="1107749"/>
            <a:ext cx="2140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Título de la página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47AF8820-EDA1-4CD5-B187-DEB4AA22B5CA}"/>
              </a:ext>
            </a:extLst>
          </p:cNvPr>
          <p:cNvSpPr/>
          <p:nvPr/>
        </p:nvSpPr>
        <p:spPr>
          <a:xfrm>
            <a:off x="8143824" y="2034363"/>
            <a:ext cx="277875" cy="4685414"/>
          </a:xfrm>
          <a:prstGeom prst="rightBrace">
            <a:avLst>
              <a:gd name="adj1" fmla="val 8333"/>
              <a:gd name="adj2" fmla="val 49319"/>
            </a:avLst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16FC58-2E30-469D-AC95-0E601B18545C}"/>
              </a:ext>
            </a:extLst>
          </p:cNvPr>
          <p:cNvSpPr txBox="1"/>
          <p:nvPr/>
        </p:nvSpPr>
        <p:spPr>
          <a:xfrm>
            <a:off x="8421699" y="2116325"/>
            <a:ext cx="37703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Son todos los estilos de la pagina web, cada archivo representa una sección de la pagina. Se pueden añadir las secciones que guste el usuario </a:t>
            </a:r>
          </a:p>
          <a:p>
            <a:endParaRPr lang="es-MX" sz="2800" dirty="0">
              <a:solidFill>
                <a:schemeClr val="bg1"/>
              </a:solidFill>
            </a:endParaRPr>
          </a:p>
          <a:p>
            <a:r>
              <a:rPr lang="es-MX" sz="2800" dirty="0">
                <a:solidFill>
                  <a:schemeClr val="bg1"/>
                </a:solidFill>
              </a:rPr>
              <a:t>Las últimas líneas añaden estilo de fuente</a:t>
            </a:r>
          </a:p>
        </p:txBody>
      </p:sp>
    </p:spTree>
    <p:extLst>
      <p:ext uri="{BB962C8B-B14F-4D97-AF65-F5344CB8AC3E}">
        <p14:creationId xmlns:p14="http://schemas.microsoft.com/office/powerpoint/2010/main" val="408104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81D73B-A980-4C78-8BFB-C748DCC2B4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7" r="8780"/>
          <a:stretch/>
        </p:blipFill>
        <p:spPr>
          <a:xfrm>
            <a:off x="-1" y="0"/>
            <a:ext cx="12171021" cy="3962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173809-E831-4A6D-907D-FA6075CA559F}"/>
              </a:ext>
            </a:extLst>
          </p:cNvPr>
          <p:cNvSpPr txBox="1"/>
          <p:nvPr/>
        </p:nvSpPr>
        <p:spPr>
          <a:xfrm>
            <a:off x="0" y="4324994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Para generar una nueva sección cuando se necesite (un nuevo carrusel, nuevo texto, etc.) se da clic a este botón, y dependiendo de si queremos un </a:t>
            </a:r>
            <a:r>
              <a:rPr lang="es-MX" sz="3600" b="1" dirty="0"/>
              <a:t>java </a:t>
            </a:r>
            <a:r>
              <a:rPr lang="es-MX" sz="3600" dirty="0"/>
              <a:t>o un </a:t>
            </a:r>
            <a:r>
              <a:rPr lang="es-MX" sz="3600" b="1" dirty="0" err="1"/>
              <a:t>css</a:t>
            </a:r>
            <a:r>
              <a:rPr lang="es-MX" sz="3600" dirty="0"/>
              <a:t> damos un clic en la carpeta y presionamos el botón de nuevo archivo.  </a:t>
            </a:r>
          </a:p>
        </p:txBody>
      </p:sp>
    </p:spTree>
    <p:extLst>
      <p:ext uri="{BB962C8B-B14F-4D97-AF65-F5344CB8AC3E}">
        <p14:creationId xmlns:p14="http://schemas.microsoft.com/office/powerpoint/2010/main" val="221212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158E290-1E8C-4059-A8DE-4ACF15FA1D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48"/>
          <a:stretch/>
        </p:blipFill>
        <p:spPr>
          <a:xfrm>
            <a:off x="0" y="0"/>
            <a:ext cx="5158154" cy="421049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0FECF59-8378-4158-8B18-A0449E781FD6}"/>
              </a:ext>
            </a:extLst>
          </p:cNvPr>
          <p:cNvSpPr txBox="1"/>
          <p:nvPr/>
        </p:nvSpPr>
        <p:spPr>
          <a:xfrm>
            <a:off x="0" y="4617594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El </a:t>
            </a:r>
            <a:r>
              <a:rPr lang="es-MX" sz="3200" dirty="0" err="1"/>
              <a:t>html</a:t>
            </a:r>
            <a:r>
              <a:rPr lang="es-MX" sz="3200" dirty="0"/>
              <a:t> va mostrando los elementos de la página en orden. Eso significa que si entre el recorrido virtual y la dirección quiero poner otra sección debo programar en esta parte del código.</a:t>
            </a:r>
          </a:p>
          <a:p>
            <a:pPr algn="ctr"/>
            <a:r>
              <a:rPr lang="es-MX" sz="3200" dirty="0">
                <a:solidFill>
                  <a:srgbClr val="0070C0"/>
                </a:solidFill>
              </a:rPr>
              <a:t>Para el </a:t>
            </a:r>
            <a:r>
              <a:rPr lang="es-MX" sz="3200" dirty="0" err="1">
                <a:solidFill>
                  <a:srgbClr val="0070C0"/>
                </a:solidFill>
              </a:rPr>
              <a:t>css</a:t>
            </a:r>
            <a:r>
              <a:rPr lang="es-MX" sz="3200" dirty="0">
                <a:solidFill>
                  <a:srgbClr val="0070C0"/>
                </a:solidFill>
              </a:rPr>
              <a:t> no importa el orden de programación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E69354-A36E-4F22-97B6-3AD6D76A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811" y="0"/>
            <a:ext cx="6448639" cy="44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9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E6F1B7AF-3741-40A4-8C6C-662A0A0C5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025" y="330567"/>
            <a:ext cx="6525072" cy="663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51268AD-C0FE-4C7D-9F48-F30A49B28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4955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9C2863F-0116-48E1-911C-BF219513325A}"/>
              </a:ext>
            </a:extLst>
          </p:cNvPr>
          <p:cNvSpPr txBox="1">
            <a:spLocks/>
          </p:cNvSpPr>
          <p:nvPr/>
        </p:nvSpPr>
        <p:spPr>
          <a:xfrm>
            <a:off x="6809209" y="2111639"/>
            <a:ext cx="5952067" cy="3195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Edición de encabezado</a:t>
            </a:r>
          </a:p>
        </p:txBody>
      </p:sp>
    </p:spTree>
    <p:extLst>
      <p:ext uri="{BB962C8B-B14F-4D97-AF65-F5344CB8AC3E}">
        <p14:creationId xmlns:p14="http://schemas.microsoft.com/office/powerpoint/2010/main" val="3452812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6EBA55B1-97AB-4E9F-8F03-9128F18B7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15"/>
          <a:stretch/>
        </p:blipFill>
        <p:spPr>
          <a:xfrm>
            <a:off x="0" y="-14365"/>
            <a:ext cx="7484690" cy="6872365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379F652-7FEA-44B6-BDBA-3F12973594B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972564" y="149298"/>
            <a:ext cx="6422065" cy="3647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C231B20D-3006-4D5F-ACBD-6062219D2DC1}"/>
              </a:ext>
            </a:extLst>
          </p:cNvPr>
          <p:cNvSpPr txBox="1">
            <a:spLocks/>
          </p:cNvSpPr>
          <p:nvPr/>
        </p:nvSpPr>
        <p:spPr>
          <a:xfrm>
            <a:off x="7394629" y="-443164"/>
            <a:ext cx="4887433" cy="11849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 err="1"/>
              <a:t>Body</a:t>
            </a:r>
            <a:r>
              <a:rPr lang="es-MX" sz="2400" b="1" dirty="0"/>
              <a:t> </a:t>
            </a:r>
            <a:r>
              <a:rPr lang="es-MX" sz="2400" dirty="0"/>
              <a:t>marca el inicio de todo lo que el usuario verá en la interfaz</a:t>
            </a:r>
            <a:endParaRPr lang="es-MX" sz="2400" b="1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DEDFEAC-6F94-4801-ABBC-9FC3B79EE4B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957851" y="1130002"/>
            <a:ext cx="3694046" cy="3662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A9951ECE-112C-4F72-B1CB-1C8E3E44B053}"/>
              </a:ext>
            </a:extLst>
          </p:cNvPr>
          <p:cNvSpPr txBox="1">
            <a:spLocks/>
          </p:cNvSpPr>
          <p:nvPr/>
        </p:nvSpPr>
        <p:spPr>
          <a:xfrm>
            <a:off x="7651897" y="729521"/>
            <a:ext cx="4540104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>
                <a:solidFill>
                  <a:srgbClr val="0070C0"/>
                </a:solidFill>
              </a:rPr>
              <a:t>3.Entre </a:t>
            </a:r>
            <a:r>
              <a:rPr lang="es-MX" sz="2400" b="1" dirty="0">
                <a:solidFill>
                  <a:srgbClr val="0070C0"/>
                </a:solidFill>
              </a:rPr>
              <a:t>&lt;</a:t>
            </a:r>
            <a:r>
              <a:rPr lang="es-MX" sz="2400" b="1" dirty="0" err="1">
                <a:solidFill>
                  <a:srgbClr val="0070C0"/>
                </a:solidFill>
              </a:rPr>
              <a:t>div</a:t>
            </a:r>
            <a:r>
              <a:rPr lang="es-MX" sz="2400" b="1" dirty="0">
                <a:solidFill>
                  <a:srgbClr val="0070C0"/>
                </a:solidFill>
              </a:rPr>
              <a:t>&gt; y &lt;/</a:t>
            </a:r>
            <a:r>
              <a:rPr lang="es-MX" sz="2400" b="1" dirty="0" err="1">
                <a:solidFill>
                  <a:srgbClr val="0070C0"/>
                </a:solidFill>
              </a:rPr>
              <a:t>div</a:t>
            </a:r>
            <a:r>
              <a:rPr lang="es-MX" sz="2400" b="1" dirty="0">
                <a:solidFill>
                  <a:srgbClr val="0070C0"/>
                </a:solidFill>
              </a:rPr>
              <a:t>&gt; </a:t>
            </a:r>
            <a:r>
              <a:rPr lang="es-MX" sz="2400" dirty="0">
                <a:solidFill>
                  <a:srgbClr val="0070C0"/>
                </a:solidFill>
              </a:rPr>
              <a:t>se agrupa todo lo que se va a modificar en un </a:t>
            </a:r>
            <a:r>
              <a:rPr lang="es-MX" sz="2400" dirty="0" err="1">
                <a:solidFill>
                  <a:srgbClr val="0070C0"/>
                </a:solidFill>
              </a:rPr>
              <a:t>css</a:t>
            </a:r>
            <a:r>
              <a:rPr lang="es-MX" sz="2400" b="1" dirty="0">
                <a:solidFill>
                  <a:srgbClr val="0070C0"/>
                </a:solidFill>
              </a:rPr>
              <a:t> 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665D58F-ABF5-499F-B501-1B01C4E187AB}"/>
              </a:ext>
            </a:extLst>
          </p:cNvPr>
          <p:cNvCxnSpPr>
            <a:cxnSpLocks/>
          </p:cNvCxnSpPr>
          <p:nvPr/>
        </p:nvCxnSpPr>
        <p:spPr>
          <a:xfrm>
            <a:off x="3549500" y="1850653"/>
            <a:ext cx="3999616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AF6D3CB9-F1CF-414D-9938-FB606CD306F1}"/>
              </a:ext>
            </a:extLst>
          </p:cNvPr>
          <p:cNvSpPr txBox="1">
            <a:spLocks/>
          </p:cNvSpPr>
          <p:nvPr/>
        </p:nvSpPr>
        <p:spPr>
          <a:xfrm>
            <a:off x="7176978" y="1530483"/>
            <a:ext cx="5015022" cy="592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dirty="0"/>
              <a:t>4. Inserta imágenes de la siguiente estructura “carpeta/archivo</a:t>
            </a:r>
            <a:r>
              <a:rPr lang="es-MX" sz="2000" dirty="0"/>
              <a:t>”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6C77860-58D5-47EF-9C2B-3B924DD3B395}"/>
              </a:ext>
            </a:extLst>
          </p:cNvPr>
          <p:cNvCxnSpPr>
            <a:cxnSpLocks/>
          </p:cNvCxnSpPr>
          <p:nvPr/>
        </p:nvCxnSpPr>
        <p:spPr>
          <a:xfrm>
            <a:off x="5372099" y="2178745"/>
            <a:ext cx="2453464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FA1CDBB0-D7F2-4A56-A771-C3E43AF0DBFB}"/>
              </a:ext>
            </a:extLst>
          </p:cNvPr>
          <p:cNvSpPr txBox="1">
            <a:spLocks/>
          </p:cNvSpPr>
          <p:nvPr/>
        </p:nvSpPr>
        <p:spPr>
          <a:xfrm>
            <a:off x="7738730" y="2032439"/>
            <a:ext cx="4366437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rgbClr val="0070C0"/>
                </a:solidFill>
              </a:rPr>
              <a:t>Sirve como descripción para personas ciegas o de dificultad visual 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B35FD9C-E0C7-4CBA-9A8B-4C2BC04DF6C0}"/>
              </a:ext>
            </a:extLst>
          </p:cNvPr>
          <p:cNvCxnSpPr>
            <a:cxnSpLocks/>
          </p:cNvCxnSpPr>
          <p:nvPr/>
        </p:nvCxnSpPr>
        <p:spPr>
          <a:xfrm>
            <a:off x="3002589" y="2382092"/>
            <a:ext cx="1334387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DA1C010C-5EA5-4BF4-9476-76A552AF9909}"/>
              </a:ext>
            </a:extLst>
          </p:cNvPr>
          <p:cNvSpPr txBox="1">
            <a:spLocks/>
          </p:cNvSpPr>
          <p:nvPr/>
        </p:nvSpPr>
        <p:spPr>
          <a:xfrm>
            <a:off x="4336976" y="2262247"/>
            <a:ext cx="2756047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5. Asigna una etiqueta para que CSS pueda encontrarla 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C324AD4-FF72-41F7-B4F2-326C1F5124F1}"/>
              </a:ext>
            </a:extLst>
          </p:cNvPr>
          <p:cNvCxnSpPr>
            <a:cxnSpLocks/>
          </p:cNvCxnSpPr>
          <p:nvPr/>
        </p:nvCxnSpPr>
        <p:spPr>
          <a:xfrm flipV="1">
            <a:off x="3159697" y="4220342"/>
            <a:ext cx="4301978" cy="2907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F23E1C26-9D33-45AD-B3FB-45E9822F59E0}"/>
              </a:ext>
            </a:extLst>
          </p:cNvPr>
          <p:cNvSpPr txBox="1">
            <a:spLocks/>
          </p:cNvSpPr>
          <p:nvPr/>
        </p:nvSpPr>
        <p:spPr>
          <a:xfrm>
            <a:off x="7304567" y="4053384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/>
              <a:t>Indica el contenido del dictado de voz</a:t>
            </a: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1B82EAC6-D03C-4A79-A025-25F23BAF5E7C}"/>
              </a:ext>
            </a:extLst>
          </p:cNvPr>
          <p:cNvSpPr txBox="1">
            <a:spLocks/>
          </p:cNvSpPr>
          <p:nvPr/>
        </p:nvSpPr>
        <p:spPr>
          <a:xfrm>
            <a:off x="7363710" y="4576048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sz="2400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CD32383-1BB6-4AD5-8DFD-AE8B32C43A97}"/>
              </a:ext>
            </a:extLst>
          </p:cNvPr>
          <p:cNvCxnSpPr>
            <a:cxnSpLocks/>
          </p:cNvCxnSpPr>
          <p:nvPr/>
        </p:nvCxnSpPr>
        <p:spPr>
          <a:xfrm>
            <a:off x="4927523" y="5931093"/>
            <a:ext cx="0" cy="439829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ítulo 1">
            <a:extLst>
              <a:ext uri="{FF2B5EF4-FFF2-40B4-BE49-F238E27FC236}">
                <a16:creationId xmlns:a16="http://schemas.microsoft.com/office/drawing/2014/main" id="{C87F89D5-AB63-4656-A9A2-D4424B817F39}"/>
              </a:ext>
            </a:extLst>
          </p:cNvPr>
          <p:cNvSpPr txBox="1">
            <a:spLocks/>
          </p:cNvSpPr>
          <p:nvPr/>
        </p:nvSpPr>
        <p:spPr>
          <a:xfrm>
            <a:off x="2507196" y="6389828"/>
            <a:ext cx="4887433" cy="3870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>
                <a:solidFill>
                  <a:schemeClr val="bg1"/>
                </a:solidFill>
              </a:rPr>
              <a:t>Indica salto de línea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2FC49340-29E5-4E4F-8A42-DEB4FFBE8000}"/>
              </a:ext>
            </a:extLst>
          </p:cNvPr>
          <p:cNvCxnSpPr>
            <a:cxnSpLocks/>
          </p:cNvCxnSpPr>
          <p:nvPr/>
        </p:nvCxnSpPr>
        <p:spPr>
          <a:xfrm>
            <a:off x="4253023" y="4756462"/>
            <a:ext cx="3572540" cy="1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ítulo 1">
            <a:extLst>
              <a:ext uri="{FF2B5EF4-FFF2-40B4-BE49-F238E27FC236}">
                <a16:creationId xmlns:a16="http://schemas.microsoft.com/office/drawing/2014/main" id="{43B06EEC-40F5-4A9F-A18F-D860524B0891}"/>
              </a:ext>
            </a:extLst>
          </p:cNvPr>
          <p:cNvSpPr txBox="1">
            <a:spLocks/>
          </p:cNvSpPr>
          <p:nvPr/>
        </p:nvSpPr>
        <p:spPr>
          <a:xfrm>
            <a:off x="7807934" y="4220342"/>
            <a:ext cx="3998983" cy="10497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dirty="0"/>
              <a:t>Es controlado por el </a:t>
            </a:r>
            <a:r>
              <a:rPr lang="es-MX" sz="2400" dirty="0" err="1"/>
              <a:t>css</a:t>
            </a:r>
            <a:r>
              <a:rPr lang="es-MX" sz="2400" dirty="0"/>
              <a:t> “imagen-bienvenida.css”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4DCF215-8E3B-4132-A430-75B318DFE2EA}"/>
              </a:ext>
            </a:extLst>
          </p:cNvPr>
          <p:cNvCxnSpPr>
            <a:cxnSpLocks/>
          </p:cNvCxnSpPr>
          <p:nvPr/>
        </p:nvCxnSpPr>
        <p:spPr>
          <a:xfrm>
            <a:off x="2923289" y="614567"/>
            <a:ext cx="1511991" cy="651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ítulo 1">
            <a:extLst>
              <a:ext uri="{FF2B5EF4-FFF2-40B4-BE49-F238E27FC236}">
                <a16:creationId xmlns:a16="http://schemas.microsoft.com/office/drawing/2014/main" id="{DD566674-780F-4786-9118-FA98C94CDA53}"/>
              </a:ext>
            </a:extLst>
          </p:cNvPr>
          <p:cNvSpPr txBox="1">
            <a:spLocks/>
          </p:cNvSpPr>
          <p:nvPr/>
        </p:nvSpPr>
        <p:spPr>
          <a:xfrm>
            <a:off x="4336976" y="253657"/>
            <a:ext cx="3224860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solidFill>
                  <a:schemeClr val="bg1"/>
                </a:solidFill>
              </a:rPr>
              <a:t>2. Es controlado por el </a:t>
            </a:r>
            <a:r>
              <a:rPr lang="es-MX" sz="2400" b="1" dirty="0" err="1">
                <a:solidFill>
                  <a:schemeClr val="bg1"/>
                </a:solidFill>
              </a:rPr>
              <a:t>css</a:t>
            </a:r>
            <a:r>
              <a:rPr lang="es-MX" sz="2400" b="1" dirty="0">
                <a:solidFill>
                  <a:schemeClr val="bg1"/>
                </a:solidFill>
              </a:rPr>
              <a:t> </a:t>
            </a:r>
            <a:r>
              <a:rPr lang="es-MX" sz="2400" b="1" dirty="0" err="1">
                <a:solidFill>
                  <a:schemeClr val="bg1"/>
                </a:solidFill>
              </a:rPr>
              <a:t>header</a:t>
            </a:r>
            <a:endParaRPr lang="es-MX" sz="2400" b="1" dirty="0">
              <a:solidFill>
                <a:schemeClr val="bg1"/>
              </a:solidFill>
            </a:endParaRPr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A6EA2D5B-0513-4330-AF3B-2ED704C46A17}"/>
              </a:ext>
            </a:extLst>
          </p:cNvPr>
          <p:cNvSpPr txBox="1">
            <a:spLocks/>
          </p:cNvSpPr>
          <p:nvPr/>
        </p:nvSpPr>
        <p:spPr>
          <a:xfrm>
            <a:off x="972564" y="2962132"/>
            <a:ext cx="5018661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6. &lt;h1&gt; para modificar propiedades del título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BCC3022-96AA-48ED-AFEF-E911743F76AE}"/>
              </a:ext>
            </a:extLst>
          </p:cNvPr>
          <p:cNvCxnSpPr>
            <a:cxnSpLocks/>
          </p:cNvCxnSpPr>
          <p:nvPr/>
        </p:nvCxnSpPr>
        <p:spPr>
          <a:xfrm>
            <a:off x="2419350" y="2913531"/>
            <a:ext cx="285751" cy="234335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A195688-A92E-4A55-A458-DAFA2DA5243A}"/>
              </a:ext>
            </a:extLst>
          </p:cNvPr>
          <p:cNvCxnSpPr/>
          <p:nvPr/>
        </p:nvCxnSpPr>
        <p:spPr>
          <a:xfrm>
            <a:off x="340963" y="741760"/>
            <a:ext cx="0" cy="38824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4786EB04-E3F6-4838-8CF1-36F61E409549}"/>
              </a:ext>
            </a:extLst>
          </p:cNvPr>
          <p:cNvSpPr txBox="1">
            <a:spLocks/>
          </p:cNvSpPr>
          <p:nvPr/>
        </p:nvSpPr>
        <p:spPr>
          <a:xfrm>
            <a:off x="287026" y="214086"/>
            <a:ext cx="3670825" cy="800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600" b="1" dirty="0">
                <a:solidFill>
                  <a:schemeClr val="bg1"/>
                </a:solidFill>
              </a:rPr>
              <a:t>1. Espacio en el código que indica jerarquía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1DF8F8E-4E6D-4497-BC7C-0ACBD8558754}"/>
              </a:ext>
            </a:extLst>
          </p:cNvPr>
          <p:cNvCxnSpPr/>
          <p:nvPr/>
        </p:nvCxnSpPr>
        <p:spPr>
          <a:xfrm>
            <a:off x="733586" y="1336362"/>
            <a:ext cx="0" cy="38824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9FF803FD-5E39-49F2-8127-184BF0A5D8DF}"/>
              </a:ext>
            </a:extLst>
          </p:cNvPr>
          <p:cNvSpPr txBox="1">
            <a:spLocks/>
          </p:cNvSpPr>
          <p:nvPr/>
        </p:nvSpPr>
        <p:spPr>
          <a:xfrm>
            <a:off x="972563" y="3360592"/>
            <a:ext cx="5018661" cy="544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solidFill>
                  <a:schemeClr val="bg1"/>
                </a:solidFill>
              </a:rPr>
              <a:t>h1 &gt;&gt; h2 &gt;&gt;h3 </a:t>
            </a:r>
          </a:p>
        </p:txBody>
      </p:sp>
    </p:spTree>
    <p:extLst>
      <p:ext uri="{BB962C8B-B14F-4D97-AF65-F5344CB8AC3E}">
        <p14:creationId xmlns:p14="http://schemas.microsoft.com/office/powerpoint/2010/main" val="43007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C40B40-3F88-4C7B-9D15-506DDA376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9315"/>
            <a:ext cx="6713288" cy="371184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59CEBCA-2108-43BC-BC07-1B40831F766A}"/>
              </a:ext>
            </a:extLst>
          </p:cNvPr>
          <p:cNvSpPr txBox="1">
            <a:spLocks/>
          </p:cNvSpPr>
          <p:nvPr/>
        </p:nvSpPr>
        <p:spPr>
          <a:xfrm>
            <a:off x="6914181" y="0"/>
            <a:ext cx="4887433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400" dirty="0"/>
              <a:t>El </a:t>
            </a:r>
            <a:r>
              <a:rPr lang="es-MX" sz="4400" b="1" dirty="0" err="1"/>
              <a:t>header</a:t>
            </a:r>
            <a:r>
              <a:rPr lang="es-MX" sz="4400" b="1" dirty="0"/>
              <a:t> </a:t>
            </a:r>
            <a:r>
              <a:rPr lang="es-MX" sz="4400" b="1" dirty="0" err="1"/>
              <a:t>class</a:t>
            </a:r>
            <a:r>
              <a:rPr lang="es-MX" sz="4400" b="1" dirty="0"/>
              <a:t> = “encabezado” </a:t>
            </a:r>
            <a:r>
              <a:rPr lang="es-MX" sz="4400" dirty="0"/>
              <a:t>es el elemento de mayor jerarquía en las líneas de código</a:t>
            </a:r>
            <a:r>
              <a:rPr lang="es-MX" sz="4400" b="1" dirty="0"/>
              <a:t>.</a:t>
            </a:r>
          </a:p>
          <a:p>
            <a:r>
              <a:rPr lang="es-MX" sz="4400" b="1" dirty="0">
                <a:solidFill>
                  <a:srgbClr val="0070C0"/>
                </a:solidFill>
              </a:rPr>
              <a:t>2. </a:t>
            </a:r>
            <a:r>
              <a:rPr lang="es-MX" sz="4400" dirty="0">
                <a:solidFill>
                  <a:srgbClr val="0070C0"/>
                </a:solidFill>
              </a:rPr>
              <a:t>Dentro de </a:t>
            </a:r>
            <a:r>
              <a:rPr lang="es-MX" sz="4400" b="1" dirty="0" err="1">
                <a:solidFill>
                  <a:srgbClr val="0070C0"/>
                </a:solidFill>
              </a:rPr>
              <a:t>header</a:t>
            </a:r>
            <a:r>
              <a:rPr lang="es-MX" sz="4400" b="1" dirty="0">
                <a:solidFill>
                  <a:srgbClr val="0070C0"/>
                </a:solidFill>
              </a:rPr>
              <a:t> </a:t>
            </a:r>
            <a:r>
              <a:rPr lang="es-MX" sz="4400" dirty="0">
                <a:solidFill>
                  <a:srgbClr val="0070C0"/>
                </a:solidFill>
              </a:rPr>
              <a:t>va </a:t>
            </a:r>
            <a:r>
              <a:rPr lang="es-MX" sz="4400" b="1" dirty="0">
                <a:solidFill>
                  <a:srgbClr val="0070C0"/>
                </a:solidFill>
              </a:rPr>
              <a:t>.contenedor-encabezado </a:t>
            </a:r>
            <a:r>
              <a:rPr lang="es-MX" sz="4400" dirty="0">
                <a:solidFill>
                  <a:srgbClr val="0070C0"/>
                </a:solidFill>
              </a:rPr>
              <a:t>por el espacio que existe en las líneas de código</a:t>
            </a:r>
            <a:r>
              <a:rPr lang="es-MX" sz="4400" dirty="0"/>
              <a:t>. </a:t>
            </a:r>
          </a:p>
          <a:p>
            <a:r>
              <a:rPr lang="es-MX" sz="4400" b="1" dirty="0"/>
              <a:t>3. </a:t>
            </a:r>
            <a:r>
              <a:rPr lang="es-MX" sz="4400" dirty="0"/>
              <a:t>Dentro de </a:t>
            </a:r>
            <a:r>
              <a:rPr lang="es-MX" sz="4400" b="1" dirty="0"/>
              <a:t>.contenedor-encabezado </a:t>
            </a:r>
            <a:r>
              <a:rPr lang="es-MX" sz="4400" dirty="0"/>
              <a:t>va adentro el logo y </a:t>
            </a:r>
            <a:r>
              <a:rPr lang="es-MX" sz="4400" dirty="0" err="1"/>
              <a:t>HCSJR</a:t>
            </a:r>
            <a:endParaRPr lang="es-MX" sz="4400" b="1" dirty="0"/>
          </a:p>
          <a:p>
            <a:endParaRPr lang="es-MX" sz="24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99D94E-0B31-48E4-A49D-5A86DF01F018}"/>
              </a:ext>
            </a:extLst>
          </p:cNvPr>
          <p:cNvSpPr txBox="1"/>
          <p:nvPr/>
        </p:nvSpPr>
        <p:spPr>
          <a:xfrm>
            <a:off x="219139" y="477308"/>
            <a:ext cx="7072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/>
              <a:t>1. Jerarquía en el código </a:t>
            </a:r>
          </a:p>
        </p:txBody>
      </p:sp>
    </p:spTree>
    <p:extLst>
      <p:ext uri="{BB962C8B-B14F-4D97-AF65-F5344CB8AC3E}">
        <p14:creationId xmlns:p14="http://schemas.microsoft.com/office/powerpoint/2010/main" val="407879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21D40481-DBFB-412C-8FA4-36C7D82B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67566"/>
            <a:ext cx="4380661" cy="5890433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CCEC4601-4A94-4D83-81E0-EA627FB9F58B}"/>
              </a:ext>
            </a:extLst>
          </p:cNvPr>
          <p:cNvSpPr txBox="1">
            <a:spLocks/>
          </p:cNvSpPr>
          <p:nvPr/>
        </p:nvSpPr>
        <p:spPr>
          <a:xfrm>
            <a:off x="4629151" y="1571626"/>
            <a:ext cx="7372349" cy="7048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endParaRPr lang="es-MX" sz="28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3990BBA-D235-41B4-BEE5-958B2F51C206}"/>
              </a:ext>
            </a:extLst>
          </p:cNvPr>
          <p:cNvCxnSpPr>
            <a:cxnSpLocks/>
          </p:cNvCxnSpPr>
          <p:nvPr/>
        </p:nvCxnSpPr>
        <p:spPr>
          <a:xfrm>
            <a:off x="2986118" y="1809272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AD659B-B19A-434F-ABB3-FBA9E02422FB}"/>
              </a:ext>
            </a:extLst>
          </p:cNvPr>
          <p:cNvSpPr txBox="1"/>
          <p:nvPr/>
        </p:nvSpPr>
        <p:spPr>
          <a:xfrm>
            <a:off x="4891118" y="743032"/>
            <a:ext cx="77324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MX" sz="1600" dirty="0"/>
              <a:t>Esta llave permite que se sobreponga el texto “</a:t>
            </a:r>
            <a:r>
              <a:rPr lang="es-MX" sz="1600" dirty="0" err="1"/>
              <a:t>HCSJR</a:t>
            </a:r>
            <a:r>
              <a:rPr lang="es-MX" sz="1600" dirty="0"/>
              <a:t>” y el logo de Guanajuato sobre la imagen de bienvenida</a:t>
            </a:r>
          </a:p>
          <a:p>
            <a:pPr>
              <a:spcAft>
                <a:spcPts val="600"/>
              </a:spcAft>
            </a:pPr>
            <a:r>
              <a:rPr lang="es-MX" sz="1600" dirty="0"/>
              <a:t>2. </a:t>
            </a:r>
            <a:r>
              <a:rPr lang="es-ES" sz="1600" dirty="0"/>
              <a:t>Permite colocar el encabezado sobre la imagen.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3 y 4. Lo posiciona en la esquina superior izquierda.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5. Hace que aparezca por encima de otros elementos.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6. permite ver la imagen que está detrás.</a:t>
            </a:r>
          </a:p>
          <a:p>
            <a:pPr>
              <a:spcAft>
                <a:spcPts val="600"/>
              </a:spcAft>
            </a:pPr>
            <a:r>
              <a:rPr lang="es-ES" sz="1600" dirty="0"/>
              <a:t>7. Hace que el encabezado ocupe todo el ancho disponible.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4799921-FA8F-411E-8747-B867A566D7DF}"/>
              </a:ext>
            </a:extLst>
          </p:cNvPr>
          <p:cNvCxnSpPr>
            <a:cxnSpLocks/>
          </p:cNvCxnSpPr>
          <p:nvPr/>
        </p:nvCxnSpPr>
        <p:spPr>
          <a:xfrm>
            <a:off x="2554563" y="3502534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9020293-6F72-436B-BD5A-DA86FEB105DC}"/>
              </a:ext>
            </a:extLst>
          </p:cNvPr>
          <p:cNvCxnSpPr>
            <a:cxnSpLocks/>
          </p:cNvCxnSpPr>
          <p:nvPr/>
        </p:nvCxnSpPr>
        <p:spPr>
          <a:xfrm>
            <a:off x="2986118" y="6000750"/>
            <a:ext cx="1905000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C44650-DC4F-403C-8EE9-7DE7992FAE40}"/>
              </a:ext>
            </a:extLst>
          </p:cNvPr>
          <p:cNvSpPr txBox="1"/>
          <p:nvPr/>
        </p:nvSpPr>
        <p:spPr>
          <a:xfrm>
            <a:off x="4733644" y="3120013"/>
            <a:ext cx="841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12. Establece un ancho máximo </a:t>
            </a:r>
          </a:p>
          <a:p>
            <a:r>
              <a:rPr lang="es-MX" dirty="0">
                <a:solidFill>
                  <a:srgbClr val="0070C0"/>
                </a:solidFill>
              </a:rPr>
              <a:t>13. Utiliza ese espacio al 100%</a:t>
            </a:r>
          </a:p>
          <a:p>
            <a:r>
              <a:rPr lang="es-MX" dirty="0">
                <a:solidFill>
                  <a:srgbClr val="0070C0"/>
                </a:solidFill>
              </a:rPr>
              <a:t>14. Centra el contenedor horizontalmente</a:t>
            </a:r>
          </a:p>
          <a:p>
            <a:r>
              <a:rPr lang="es-MX" dirty="0">
                <a:solidFill>
                  <a:srgbClr val="0070C0"/>
                </a:solidFill>
              </a:rPr>
              <a:t>15. Coloca el logo y </a:t>
            </a:r>
            <a:r>
              <a:rPr lang="es-MX" dirty="0" err="1">
                <a:solidFill>
                  <a:srgbClr val="0070C0"/>
                </a:solidFill>
              </a:rPr>
              <a:t>HCSJR</a:t>
            </a:r>
            <a:r>
              <a:rPr lang="es-MX" dirty="0">
                <a:solidFill>
                  <a:srgbClr val="0070C0"/>
                </a:solidFill>
              </a:rPr>
              <a:t> en una misma fila</a:t>
            </a:r>
          </a:p>
          <a:p>
            <a:r>
              <a:rPr lang="es-MX" dirty="0">
                <a:solidFill>
                  <a:srgbClr val="0070C0"/>
                </a:solidFill>
              </a:rPr>
              <a:t>16. Alinea verticalmente los elementos</a:t>
            </a:r>
          </a:p>
          <a:p>
            <a:r>
              <a:rPr lang="es-MX" dirty="0">
                <a:solidFill>
                  <a:srgbClr val="0070C0"/>
                </a:solidFill>
              </a:rPr>
              <a:t>17. Mantiene los elementos hacia la izquierda.</a:t>
            </a:r>
          </a:p>
          <a:p>
            <a:endParaRPr lang="es-MX" dirty="0">
              <a:solidFill>
                <a:srgbClr val="0070C0"/>
              </a:solidFill>
            </a:endParaRPr>
          </a:p>
          <a:p>
            <a:endParaRPr lang="es-MX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862A253-4212-4CB4-9F5D-4D8A25509E2A}"/>
              </a:ext>
            </a:extLst>
          </p:cNvPr>
          <p:cNvSpPr txBox="1"/>
          <p:nvPr/>
        </p:nvSpPr>
        <p:spPr>
          <a:xfrm>
            <a:off x="5000594" y="5560237"/>
            <a:ext cx="841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24. Establece el ancho del logo ya sea en </a:t>
            </a:r>
            <a:r>
              <a:rPr lang="es-MX" dirty="0" err="1"/>
              <a:t>px</a:t>
            </a:r>
            <a:r>
              <a:rPr lang="es-MX" dirty="0"/>
              <a:t> o en rem (1rem = 16px)</a:t>
            </a:r>
          </a:p>
          <a:p>
            <a:r>
              <a:rPr lang="es-MX" dirty="0"/>
              <a:t>25. Mantiene proporcionalmente su altura</a:t>
            </a:r>
          </a:p>
          <a:p>
            <a:r>
              <a:rPr lang="es-MX" dirty="0"/>
              <a:t>26. Evita que la imagen se deforme</a:t>
            </a:r>
          </a:p>
          <a:p>
            <a:r>
              <a:rPr lang="es-MX" dirty="0"/>
              <a:t>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494B9C3-0A03-4000-A0E9-77A4B13F01E0}"/>
              </a:ext>
            </a:extLst>
          </p:cNvPr>
          <p:cNvSpPr txBox="1"/>
          <p:nvPr/>
        </p:nvSpPr>
        <p:spPr>
          <a:xfrm>
            <a:off x="-1" y="170619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2 .encabezado y 3.contenedor-encabezado y 5. </a:t>
            </a:r>
            <a:r>
              <a:rPr lang="es-MX" sz="2400" b="1" dirty="0" err="1"/>
              <a:t>class</a:t>
            </a:r>
            <a:r>
              <a:rPr lang="es-MX" sz="2400" b="1" dirty="0"/>
              <a:t>=“logo” recopila lo que debe tener el </a:t>
            </a:r>
            <a:r>
              <a:rPr lang="es-MX" sz="2400" b="1" dirty="0" err="1"/>
              <a:t>html</a:t>
            </a:r>
            <a:r>
              <a:rPr lang="es-MX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3656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F8DA-6143-488F-BCCC-81F419B6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825"/>
            <a:ext cx="10515600" cy="1325563"/>
          </a:xfrm>
        </p:spPr>
        <p:txBody>
          <a:bodyPr/>
          <a:lstStyle/>
          <a:p>
            <a:r>
              <a:rPr lang="es-MX" b="1" dirty="0"/>
              <a:t>4. Insertar imágenes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7629B6-66A7-4F2A-858E-F3DF662385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2"/>
          <a:stretch/>
        </p:blipFill>
        <p:spPr>
          <a:xfrm>
            <a:off x="0" y="556808"/>
            <a:ext cx="6096000" cy="324100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73ED891-13B6-4DDD-A27C-4E3EA10AABB7}"/>
              </a:ext>
            </a:extLst>
          </p:cNvPr>
          <p:cNvSpPr txBox="1"/>
          <p:nvPr/>
        </p:nvSpPr>
        <p:spPr>
          <a:xfrm>
            <a:off x="514350" y="3905250"/>
            <a:ext cx="1116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/>
              <a:t>En la carpeta que creamos de imágenes, hay que guardar las imágenes que queremos en nuestra página web</a:t>
            </a:r>
          </a:p>
          <a:p>
            <a:pPr marL="342900" indent="-342900">
              <a:buAutoNum type="arabicPeriod"/>
            </a:pPr>
            <a:r>
              <a:rPr lang="es-MX" dirty="0"/>
              <a:t>Con la estructura </a:t>
            </a:r>
            <a:r>
              <a:rPr lang="es-MX" b="1" dirty="0"/>
              <a:t>&lt;</a:t>
            </a:r>
            <a:r>
              <a:rPr lang="es-MX" b="1" dirty="0" err="1"/>
              <a:t>img</a:t>
            </a:r>
            <a:r>
              <a:rPr lang="es-MX" b="1" dirty="0"/>
              <a:t> </a:t>
            </a:r>
            <a:r>
              <a:rPr lang="es-MX" b="1" dirty="0" err="1"/>
              <a:t>src</a:t>
            </a:r>
            <a:r>
              <a:rPr lang="es-MX" b="1" dirty="0"/>
              <a:t>  =“Nombre de la carpeta/nombre de la imagen” </a:t>
            </a:r>
            <a:r>
              <a:rPr lang="es-MX" dirty="0"/>
              <a:t>se inserta la imagen que queremos </a:t>
            </a:r>
            <a:endParaRPr lang="es-MX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926FA1-0220-44B2-B621-E22C0364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83951"/>
            <a:ext cx="4905375" cy="321386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68F55A8-9F8A-4F96-BDBD-F91A4CE60D1C}"/>
              </a:ext>
            </a:extLst>
          </p:cNvPr>
          <p:cNvCxnSpPr/>
          <p:nvPr/>
        </p:nvCxnSpPr>
        <p:spPr>
          <a:xfrm>
            <a:off x="0" y="4551581"/>
            <a:ext cx="12268200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1D504FB-C824-48D5-AE89-09D3E6FF7955}"/>
              </a:ext>
            </a:extLst>
          </p:cNvPr>
          <p:cNvSpPr txBox="1"/>
          <p:nvPr/>
        </p:nvSpPr>
        <p:spPr>
          <a:xfrm>
            <a:off x="8710612" y="4714038"/>
            <a:ext cx="360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caso de que haya que cambiar el logo hay que modificar esta línea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341B6F0-F029-4BE7-98FB-0A65BB30F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" y="4807061"/>
            <a:ext cx="8110996" cy="1494131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56FB8AC-8E7C-44E1-9B06-7A9EC3E5B1F4}"/>
              </a:ext>
            </a:extLst>
          </p:cNvPr>
          <p:cNvCxnSpPr/>
          <p:nvPr/>
        </p:nvCxnSpPr>
        <p:spPr>
          <a:xfrm flipV="1">
            <a:off x="5000625" y="5037203"/>
            <a:ext cx="3514725" cy="87247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466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CF8DA-6143-488F-BCCC-81F419B6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1535"/>
            <a:ext cx="12191999" cy="1325563"/>
          </a:xfrm>
        </p:spPr>
        <p:txBody>
          <a:bodyPr>
            <a:normAutofit fontScale="90000"/>
          </a:bodyPr>
          <a:lstStyle/>
          <a:p>
            <a:r>
              <a:rPr lang="es-MX" sz="5400" b="1" dirty="0"/>
              <a:t>6. &lt;h1&gt; para modificar las propiedades del texto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4BD5A8-AA90-465C-A991-1280A386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2940"/>
            <a:ext cx="6267718" cy="3133860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C12D476-D336-42AF-82EF-993B1B529465}"/>
              </a:ext>
            </a:extLst>
          </p:cNvPr>
          <p:cNvCxnSpPr>
            <a:cxnSpLocks/>
          </p:cNvCxnSpPr>
          <p:nvPr/>
        </p:nvCxnSpPr>
        <p:spPr>
          <a:xfrm>
            <a:off x="6096000" y="2828925"/>
            <a:ext cx="46672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21E1ADA-1919-4258-8CBA-35456F7115A5}"/>
              </a:ext>
            </a:extLst>
          </p:cNvPr>
          <p:cNvSpPr txBox="1"/>
          <p:nvPr/>
        </p:nvSpPr>
        <p:spPr>
          <a:xfrm>
            <a:off x="6562724" y="1976965"/>
            <a:ext cx="5629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1. Es el tamaño del texto. La parte de </a:t>
            </a:r>
            <a:r>
              <a:rPr lang="es-MX" dirty="0">
                <a:solidFill>
                  <a:srgbClr val="0070C0"/>
                </a:solidFill>
              </a:rPr>
              <a:t>*</a:t>
            </a:r>
            <a:r>
              <a:rPr lang="es-MX" dirty="0" err="1">
                <a:solidFill>
                  <a:srgbClr val="0070C0"/>
                </a:solidFill>
              </a:rPr>
              <a:t>var</a:t>
            </a:r>
            <a:r>
              <a:rPr lang="es-MX" dirty="0">
                <a:solidFill>
                  <a:srgbClr val="0070C0"/>
                </a:solidFill>
              </a:rPr>
              <a:t>(--escala-texto)) </a:t>
            </a:r>
            <a:r>
              <a:rPr lang="es-MX" dirty="0"/>
              <a:t>se encarga de aumentar o disminuir el texto para facilitar la lectura en personas con dificultades visuales 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29D4D66-9767-4A30-8028-0198924C6C7F}"/>
              </a:ext>
            </a:extLst>
          </p:cNvPr>
          <p:cNvCxnSpPr>
            <a:cxnSpLocks/>
          </p:cNvCxnSpPr>
          <p:nvPr/>
        </p:nvCxnSpPr>
        <p:spPr>
          <a:xfrm>
            <a:off x="2581275" y="3143250"/>
            <a:ext cx="368644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CDFD31C-7DB9-418B-9A4B-8019216E34D2}"/>
              </a:ext>
            </a:extLst>
          </p:cNvPr>
          <p:cNvSpPr txBox="1"/>
          <p:nvPr/>
        </p:nvSpPr>
        <p:spPr>
          <a:xfrm>
            <a:off x="6429374" y="2929533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el grosor de la letra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7CBB5C7-46D0-4111-AD3A-649D5C4126D9}"/>
              </a:ext>
            </a:extLst>
          </p:cNvPr>
          <p:cNvSpPr txBox="1"/>
          <p:nvPr/>
        </p:nvSpPr>
        <p:spPr>
          <a:xfrm>
            <a:off x="6429374" y="3214806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el espaciado entre letras 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9052B1F-09C3-4CB4-922B-3FEB34B769B3}"/>
              </a:ext>
            </a:extLst>
          </p:cNvPr>
          <p:cNvCxnSpPr>
            <a:cxnSpLocks/>
          </p:cNvCxnSpPr>
          <p:nvPr/>
        </p:nvCxnSpPr>
        <p:spPr>
          <a:xfrm>
            <a:off x="3552825" y="3390900"/>
            <a:ext cx="2776537" cy="381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905F792-F246-444F-9720-2A9E9A4E39FA}"/>
              </a:ext>
            </a:extLst>
          </p:cNvPr>
          <p:cNvCxnSpPr>
            <a:cxnSpLocks/>
          </p:cNvCxnSpPr>
          <p:nvPr/>
        </p:nvCxnSpPr>
        <p:spPr>
          <a:xfrm>
            <a:off x="5174455" y="3728969"/>
            <a:ext cx="1254919" cy="1905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C039D0A-3C96-4410-9E85-705CE06DA79B}"/>
              </a:ext>
            </a:extLst>
          </p:cNvPr>
          <p:cNvSpPr txBox="1"/>
          <p:nvPr/>
        </p:nvSpPr>
        <p:spPr>
          <a:xfrm>
            <a:off x="6458217" y="3533348"/>
            <a:ext cx="5629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Indica la tipografía, se asigna una fuente principal al principio y una secundaria en caso de que la principal no cargue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E0EE8DB-3ED3-40C0-8A83-C1732D813E59}"/>
              </a:ext>
            </a:extLst>
          </p:cNvPr>
          <p:cNvCxnSpPr>
            <a:cxnSpLocks/>
          </p:cNvCxnSpPr>
          <p:nvPr/>
        </p:nvCxnSpPr>
        <p:spPr>
          <a:xfrm>
            <a:off x="2840830" y="4000500"/>
            <a:ext cx="807245" cy="6953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D81CFE-E427-4168-A0E1-A81CF071626B}"/>
              </a:ext>
            </a:extLst>
          </p:cNvPr>
          <p:cNvSpPr txBox="1"/>
          <p:nvPr/>
        </p:nvSpPr>
        <p:spPr>
          <a:xfrm>
            <a:off x="3483902" y="4848391"/>
            <a:ext cx="5629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 una forma abreviada de </a:t>
            </a:r>
          </a:p>
          <a:p>
            <a:r>
              <a:rPr lang="en-US" dirty="0"/>
              <a:t>margin-top: 0;</a:t>
            </a:r>
          </a:p>
          <a:p>
            <a:r>
              <a:rPr lang="en-US" dirty="0"/>
              <a:t>margin-right: 0;</a:t>
            </a:r>
          </a:p>
          <a:p>
            <a:r>
              <a:rPr lang="en-US" dirty="0"/>
              <a:t>margin-bottom: 0;</a:t>
            </a:r>
          </a:p>
          <a:p>
            <a:r>
              <a:rPr lang="en-US" dirty="0"/>
              <a:t>margin-left: 15px;</a:t>
            </a:r>
            <a:endParaRPr lang="es-MX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1EC980B-FB90-46EE-9668-0A89449F5B47}"/>
              </a:ext>
            </a:extLst>
          </p:cNvPr>
          <p:cNvCxnSpPr>
            <a:cxnSpLocks/>
          </p:cNvCxnSpPr>
          <p:nvPr/>
        </p:nvCxnSpPr>
        <p:spPr>
          <a:xfrm>
            <a:off x="1515663" y="4456678"/>
            <a:ext cx="0" cy="5629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2D90AFC-7396-42F8-8E97-A5B47B513BF5}"/>
              </a:ext>
            </a:extLst>
          </p:cNvPr>
          <p:cNvSpPr txBox="1"/>
          <p:nvPr/>
        </p:nvSpPr>
        <p:spPr>
          <a:xfrm>
            <a:off x="190364" y="4936092"/>
            <a:ext cx="305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Controla la altura de la línea</a:t>
            </a:r>
          </a:p>
        </p:txBody>
      </p:sp>
    </p:spTree>
    <p:extLst>
      <p:ext uri="{BB962C8B-B14F-4D97-AF65-F5344CB8AC3E}">
        <p14:creationId xmlns:p14="http://schemas.microsoft.com/office/powerpoint/2010/main" val="415650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otón de accesibilidad ilustración del vector. Ilustración de médico -  4672120">
            <a:extLst>
              <a:ext uri="{FF2B5EF4-FFF2-40B4-BE49-F238E27FC236}">
                <a16:creationId xmlns:a16="http://schemas.microsoft.com/office/drawing/2014/main" id="{1A1E31E0-6238-474F-AA8C-AD7BE4DB3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8329" y="-90180"/>
            <a:ext cx="6917795" cy="703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D672EE2-673C-45A9-98AF-7F8538548A7C}"/>
              </a:ext>
            </a:extLst>
          </p:cNvPr>
          <p:cNvSpPr txBox="1">
            <a:spLocks/>
          </p:cNvSpPr>
          <p:nvPr/>
        </p:nvSpPr>
        <p:spPr>
          <a:xfrm>
            <a:off x="6739466" y="-318780"/>
            <a:ext cx="5952067" cy="3195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1.Bases de la accesibilidad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C83D1C5-85AB-456E-A883-CA631AE1BE4B}"/>
              </a:ext>
            </a:extLst>
          </p:cNvPr>
          <p:cNvSpPr txBox="1">
            <a:spLocks/>
          </p:cNvSpPr>
          <p:nvPr/>
        </p:nvSpPr>
        <p:spPr>
          <a:xfrm>
            <a:off x="6739466" y="2383325"/>
            <a:ext cx="5173133" cy="31956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7200" dirty="0"/>
              <a:t>¿Cómo aumentar y disminuir el texto? </a:t>
            </a:r>
          </a:p>
        </p:txBody>
      </p:sp>
    </p:spTree>
    <p:extLst>
      <p:ext uri="{BB962C8B-B14F-4D97-AF65-F5344CB8AC3E}">
        <p14:creationId xmlns:p14="http://schemas.microsoft.com/office/powerpoint/2010/main" val="227981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6601563-4AED-49CE-A458-79C09CFD4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1"/>
          <a:stretch/>
        </p:blipFill>
        <p:spPr>
          <a:xfrm>
            <a:off x="0" y="0"/>
            <a:ext cx="12359615" cy="38481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3CC93E6-9136-495C-B04D-64F6366812F1}"/>
              </a:ext>
            </a:extLst>
          </p:cNvPr>
          <p:cNvSpPr txBox="1"/>
          <p:nvPr/>
        </p:nvSpPr>
        <p:spPr>
          <a:xfrm>
            <a:off x="1" y="3981450"/>
            <a:ext cx="122372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En el </a:t>
            </a:r>
            <a:r>
              <a:rPr lang="es-MX" sz="4400" dirty="0" err="1"/>
              <a:t>html</a:t>
            </a:r>
            <a:r>
              <a:rPr lang="es-MX" sz="4400" dirty="0"/>
              <a:t>  la parte </a:t>
            </a:r>
            <a:r>
              <a:rPr lang="es-MX" sz="4400" b="1" dirty="0" err="1">
                <a:solidFill>
                  <a:srgbClr val="0070C0"/>
                </a:solidFill>
              </a:rPr>
              <a:t>onclick</a:t>
            </a:r>
            <a:r>
              <a:rPr lang="es-MX" sz="4400" b="1" dirty="0">
                <a:solidFill>
                  <a:srgbClr val="0070C0"/>
                </a:solidFill>
              </a:rPr>
              <a:t> </a:t>
            </a:r>
            <a:r>
              <a:rPr lang="es-MX" sz="4400" dirty="0"/>
              <a:t>detecta “cuando el usuario haga clic”  y llama a la función </a:t>
            </a:r>
            <a:r>
              <a:rPr lang="es-MX" sz="4400" dirty="0">
                <a:solidFill>
                  <a:srgbClr val="7030A0"/>
                </a:solidFill>
              </a:rPr>
              <a:t>“</a:t>
            </a:r>
            <a:r>
              <a:rPr lang="es-MX" sz="4400" dirty="0" err="1">
                <a:solidFill>
                  <a:srgbClr val="7030A0"/>
                </a:solidFill>
              </a:rPr>
              <a:t>aumentarTexto</a:t>
            </a:r>
            <a:r>
              <a:rPr lang="es-MX" sz="4400" dirty="0">
                <a:solidFill>
                  <a:srgbClr val="7030A0"/>
                </a:solidFill>
              </a:rPr>
              <a:t>()” </a:t>
            </a:r>
            <a:r>
              <a:rPr lang="es-MX" sz="4400" dirty="0"/>
              <a:t>que esta en el java de ACCESIBILIDAD</a:t>
            </a:r>
            <a:r>
              <a:rPr lang="es-MX" sz="4400" dirty="0">
                <a:solidFill>
                  <a:srgbClr val="7030A0"/>
                </a:solidFill>
              </a:rPr>
              <a:t> </a:t>
            </a:r>
            <a:r>
              <a:rPr lang="es-MX" sz="4400" b="1" dirty="0">
                <a:solidFill>
                  <a:srgbClr val="7030A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9235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9E5E01-2EBD-413E-BC81-A86FC050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5566" cy="685800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FDC875B-5B5A-4632-8EC8-D39B7F99F152}"/>
              </a:ext>
            </a:extLst>
          </p:cNvPr>
          <p:cNvCxnSpPr>
            <a:cxnSpLocks/>
          </p:cNvCxnSpPr>
          <p:nvPr/>
        </p:nvCxnSpPr>
        <p:spPr>
          <a:xfrm>
            <a:off x="2995863" y="228600"/>
            <a:ext cx="417495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929124-1D6F-401B-8CB3-468EB905DF8F}"/>
              </a:ext>
            </a:extLst>
          </p:cNvPr>
          <p:cNvSpPr txBox="1"/>
          <p:nvPr/>
        </p:nvSpPr>
        <p:spPr>
          <a:xfrm>
            <a:off x="7264932" y="43934"/>
            <a:ext cx="4927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Valor inicial de la escala de texto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CF9E4B2-627C-4FEE-9644-B108E955BCEA}"/>
              </a:ext>
            </a:extLst>
          </p:cNvPr>
          <p:cNvCxnSpPr>
            <a:cxnSpLocks/>
          </p:cNvCxnSpPr>
          <p:nvPr/>
        </p:nvCxnSpPr>
        <p:spPr>
          <a:xfrm>
            <a:off x="3641557" y="1524000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B21785-0185-4574-94E4-B4A9CD01420B}"/>
              </a:ext>
            </a:extLst>
          </p:cNvPr>
          <p:cNvSpPr txBox="1"/>
          <p:nvPr/>
        </p:nvSpPr>
        <p:spPr>
          <a:xfrm>
            <a:off x="7170821" y="727894"/>
            <a:ext cx="50211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0070C0"/>
                </a:solidFill>
              </a:rPr>
              <a:t>Actualiza la variable CSS –escala-texto para que todos los elementos accesibles cambien de tamaño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70C649-80AA-4C28-968A-29C80B0E82E2}"/>
              </a:ext>
            </a:extLst>
          </p:cNvPr>
          <p:cNvSpPr txBox="1"/>
          <p:nvPr/>
        </p:nvSpPr>
        <p:spPr>
          <a:xfrm>
            <a:off x="7070557" y="2666137"/>
            <a:ext cx="5021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/>
              <a:t>Aumenta el tamaño del texto en un 10% cada vez que se da </a:t>
            </a:r>
            <a:r>
              <a:rPr lang="es-MX" sz="3600" dirty="0" err="1"/>
              <a:t>click</a:t>
            </a:r>
            <a:endParaRPr lang="es-MX" sz="3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B90AED-9A3E-4D4F-99C4-8AC352A30D94}"/>
              </a:ext>
            </a:extLst>
          </p:cNvPr>
          <p:cNvSpPr txBox="1"/>
          <p:nvPr/>
        </p:nvSpPr>
        <p:spPr>
          <a:xfrm>
            <a:off x="7395410" y="4542824"/>
            <a:ext cx="5021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>
                <a:solidFill>
                  <a:srgbClr val="0070C0"/>
                </a:solidFill>
              </a:rPr>
              <a:t>Disminuye el tamaño del texto hasta un mínimo del 80% 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62D1184-9614-42B9-8098-C44E395BA5A5}"/>
              </a:ext>
            </a:extLst>
          </p:cNvPr>
          <p:cNvCxnSpPr>
            <a:cxnSpLocks/>
          </p:cNvCxnSpPr>
          <p:nvPr/>
        </p:nvCxnSpPr>
        <p:spPr>
          <a:xfrm>
            <a:off x="3641557" y="3713748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36D61B-5EC7-4A12-BE71-8FE55DD09EAD}"/>
              </a:ext>
            </a:extLst>
          </p:cNvPr>
          <p:cNvCxnSpPr>
            <a:cxnSpLocks/>
          </p:cNvCxnSpPr>
          <p:nvPr/>
        </p:nvCxnSpPr>
        <p:spPr>
          <a:xfrm>
            <a:off x="3641557" y="5791201"/>
            <a:ext cx="352926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6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672AE2-C95B-477F-B771-AE284126AC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610"/>
          <a:stretch/>
        </p:blipFill>
        <p:spPr>
          <a:xfrm>
            <a:off x="-930441" y="0"/>
            <a:ext cx="13157584" cy="484471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1D86BD-DBC2-4829-A371-8BE8A1A8FFC5}"/>
              </a:ext>
            </a:extLst>
          </p:cNvPr>
          <p:cNvSpPr txBox="1"/>
          <p:nvPr/>
        </p:nvSpPr>
        <p:spPr>
          <a:xfrm>
            <a:off x="0" y="4844716"/>
            <a:ext cx="12625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:</a:t>
            </a:r>
            <a:r>
              <a:rPr lang="es-MX" sz="2800" b="1" dirty="0" err="1"/>
              <a:t>root</a:t>
            </a:r>
            <a:r>
              <a:rPr lang="es-MX" sz="2800" b="1" dirty="0"/>
              <a:t> </a:t>
            </a:r>
            <a:r>
              <a:rPr lang="es-MX" sz="2800" dirty="0"/>
              <a:t>crea la variable y le da un valor inicial para que JavaScript pueda modificarla y CSS pueda utilizarla </a:t>
            </a:r>
            <a:endParaRPr lang="es-MX" sz="28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D0203C-7D3F-4AF5-BFFE-805CD2E86EA2}"/>
              </a:ext>
            </a:extLst>
          </p:cNvPr>
          <p:cNvSpPr txBox="1"/>
          <p:nvPr/>
        </p:nvSpPr>
        <p:spPr>
          <a:xfrm>
            <a:off x="-1" y="5798823"/>
            <a:ext cx="12625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:</a:t>
            </a:r>
            <a:r>
              <a:rPr lang="es-MX" sz="2800" b="1" dirty="0" err="1"/>
              <a:t>body</a:t>
            </a:r>
            <a:r>
              <a:rPr lang="es-MX" sz="2800" b="1" dirty="0"/>
              <a:t> </a:t>
            </a:r>
            <a:r>
              <a:rPr lang="es-MX" sz="2800" dirty="0"/>
              <a:t>utiliza el valor que se genero anteriormente en java (--escala-texto) para determinar el tamaño que se verá en el resto de la página. </a:t>
            </a:r>
            <a:endParaRPr lang="es-MX" sz="2800" b="1" dirty="0"/>
          </a:p>
        </p:txBody>
      </p:sp>
    </p:spTree>
    <p:extLst>
      <p:ext uri="{BB962C8B-B14F-4D97-AF65-F5344CB8AC3E}">
        <p14:creationId xmlns:p14="http://schemas.microsoft.com/office/powerpoint/2010/main" val="3482899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9ABF2DA-4B7E-45AA-988E-D41565255BBF}"/>
              </a:ext>
            </a:extLst>
          </p:cNvPr>
          <p:cNvSpPr txBox="1"/>
          <p:nvPr/>
        </p:nvSpPr>
        <p:spPr>
          <a:xfrm>
            <a:off x="0" y="16042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¿Cómo asignar un tamaño correcto a las fuentes y las imágenes?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EBFB2E-FE4D-404E-AC56-1C4F1F34B189}"/>
              </a:ext>
            </a:extLst>
          </p:cNvPr>
          <p:cNvSpPr txBox="1"/>
          <p:nvPr/>
        </p:nvSpPr>
        <p:spPr>
          <a:xfrm>
            <a:off x="0" y="745196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En Google sites es muy fácil decidir que tamaño de letra e imagen queremos, pero al momento de programar es más complicado, para facilitar la tarea, hay que acceder a la página original, buscar lo que queremos replicar, dar clic derecho y seleccionar inspeccionar. </a:t>
            </a:r>
          </a:p>
          <a:p>
            <a:r>
              <a:rPr lang="es-MX" sz="2800" dirty="0"/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A96C75-4D06-4BA4-BF0D-4BD95D7B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6853"/>
            <a:ext cx="9186654" cy="436114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E5E6D23-E0A7-4ADA-9523-4DA1295CE0F0}"/>
              </a:ext>
            </a:extLst>
          </p:cNvPr>
          <p:cNvSpPr txBox="1"/>
          <p:nvPr/>
        </p:nvSpPr>
        <p:spPr>
          <a:xfrm>
            <a:off x="9361713" y="2496853"/>
            <a:ext cx="28302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0070C0"/>
                </a:solidFill>
              </a:rPr>
              <a:t>En este caso el cuadro azul indica el tamaño de la imagen, por eso programamos nuestro imagen con 5.14 rem que es equivalente a 82 </a:t>
            </a:r>
            <a:r>
              <a:rPr lang="es-MX" sz="2800" dirty="0" err="1">
                <a:solidFill>
                  <a:srgbClr val="0070C0"/>
                </a:solidFill>
              </a:rPr>
              <a:t>px</a:t>
            </a:r>
            <a:endParaRPr lang="es-MX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934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CAA0D9-7797-4C4A-B4A6-2EE98A7AC3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476"/>
          <a:stretch/>
        </p:blipFill>
        <p:spPr>
          <a:xfrm>
            <a:off x="0" y="0"/>
            <a:ext cx="7437785" cy="685800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E55801-DCB5-4638-A2A2-D6F46B5E6702}"/>
              </a:ext>
            </a:extLst>
          </p:cNvPr>
          <p:cNvSpPr txBox="1"/>
          <p:nvPr/>
        </p:nvSpPr>
        <p:spPr>
          <a:xfrm>
            <a:off x="7437785" y="0"/>
            <a:ext cx="453631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Al seleccionar el texto a inspeccionar se ven sus respectivas propiedades. Son muchas así que las que se usan en el programa son: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Color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family</a:t>
            </a:r>
            <a:r>
              <a:rPr lang="es-MX" sz="3200" dirty="0"/>
              <a:t> (todos)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size</a:t>
            </a:r>
            <a:r>
              <a:rPr lang="es-MX" sz="3200" dirty="0"/>
              <a:t>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Font-</a:t>
            </a:r>
            <a:r>
              <a:rPr lang="es-MX" sz="3200" dirty="0" err="1"/>
              <a:t>weight</a:t>
            </a:r>
            <a:r>
              <a:rPr lang="es-MX" sz="3200" dirty="0"/>
              <a:t> (todos)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 err="1"/>
              <a:t>Padding</a:t>
            </a:r>
            <a:r>
              <a:rPr lang="es-MX" sz="3200" dirty="0"/>
              <a:t> (todos)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Line-</a:t>
            </a:r>
            <a:r>
              <a:rPr lang="es-MX" sz="3200" dirty="0" err="1"/>
              <a:t>height</a:t>
            </a:r>
            <a:r>
              <a:rPr lang="es-MX" sz="3200" dirty="0"/>
              <a:t> (algunos)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/>
              <a:t>Max-</a:t>
            </a:r>
            <a:r>
              <a:rPr lang="es-MX" sz="3200" dirty="0" err="1"/>
              <a:t>width</a:t>
            </a:r>
            <a:r>
              <a:rPr lang="es-MX" sz="3200" dirty="0"/>
              <a:t> (algunos)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dirty="0" err="1"/>
              <a:t>Width</a:t>
            </a:r>
            <a:r>
              <a:rPr lang="es-MX" sz="3200" dirty="0"/>
              <a:t> (algunos)</a:t>
            </a:r>
          </a:p>
        </p:txBody>
      </p:sp>
    </p:spTree>
    <p:extLst>
      <p:ext uri="{BB962C8B-B14F-4D97-AF65-F5344CB8AC3E}">
        <p14:creationId xmlns:p14="http://schemas.microsoft.com/office/powerpoint/2010/main" val="1204489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4620B9D-83BC-466C-AEFF-5B6E61B2FC3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27761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9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Imagen de bienvenida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F2655A-A4B1-428C-9D97-1725020B9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763"/>
            <a:ext cx="12192000" cy="468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9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44BC4855-B1C2-409A-818E-86E6E84033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32" t="3381" r="3684"/>
          <a:stretch/>
        </p:blipFill>
        <p:spPr>
          <a:xfrm>
            <a:off x="54046" y="-46057"/>
            <a:ext cx="7485879" cy="6904057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F4610F1-8A68-4DC5-AD38-E6EFBB05B5E4}"/>
              </a:ext>
            </a:extLst>
          </p:cNvPr>
          <p:cNvCxnSpPr>
            <a:cxnSpLocks/>
          </p:cNvCxnSpPr>
          <p:nvPr/>
        </p:nvCxnSpPr>
        <p:spPr>
          <a:xfrm flipV="1">
            <a:off x="1185620" y="749797"/>
            <a:ext cx="829160" cy="27897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5908FC6-40AC-445F-9A90-F4E7D9A16B34}"/>
              </a:ext>
            </a:extLst>
          </p:cNvPr>
          <p:cNvSpPr txBox="1"/>
          <p:nvPr/>
        </p:nvSpPr>
        <p:spPr>
          <a:xfrm>
            <a:off x="2014780" y="518079"/>
            <a:ext cx="502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 de margen superior e inferior </a:t>
            </a:r>
            <a:r>
              <a:rPr lang="es-MX" dirty="0"/>
              <a:t> 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EC05243-1BE6-436E-9C07-4C216D0227FA}"/>
              </a:ext>
            </a:extLst>
          </p:cNvPr>
          <p:cNvCxnSpPr>
            <a:cxnSpLocks/>
          </p:cNvCxnSpPr>
          <p:nvPr/>
        </p:nvCxnSpPr>
        <p:spPr>
          <a:xfrm flipV="1">
            <a:off x="1697243" y="968644"/>
            <a:ext cx="673998" cy="12893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22B862-ABE3-4A39-9BCE-C79DAE18D15E}"/>
              </a:ext>
            </a:extLst>
          </p:cNvPr>
          <p:cNvSpPr txBox="1"/>
          <p:nvPr/>
        </p:nvSpPr>
        <p:spPr>
          <a:xfrm>
            <a:off x="2387095" y="783978"/>
            <a:ext cx="502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Centra la imagen de izquierda a derecha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624270C-557A-42F8-9AE2-1BF947376E28}"/>
              </a:ext>
            </a:extLst>
          </p:cNvPr>
          <p:cNvCxnSpPr>
            <a:cxnSpLocks/>
          </p:cNvCxnSpPr>
          <p:nvPr/>
        </p:nvCxnSpPr>
        <p:spPr>
          <a:xfrm>
            <a:off x="7543905" y="1372046"/>
            <a:ext cx="30988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F81BB2E-5D7D-4202-83EA-5E726B0FC32F}"/>
              </a:ext>
            </a:extLst>
          </p:cNvPr>
          <p:cNvSpPr txBox="1"/>
          <p:nvPr/>
        </p:nvSpPr>
        <p:spPr>
          <a:xfrm>
            <a:off x="7919499" y="148747"/>
            <a:ext cx="44675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Indica que la imagen se usara de fondo. El código es distinto al de otras imágenes. En caso de querer poner otra imagen de bienvenida hay que subirla a la carpeta y escribirla.  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9022D3D-13BF-4711-85D7-BCBBE96DFCEF}"/>
              </a:ext>
            </a:extLst>
          </p:cNvPr>
          <p:cNvSpPr txBox="1"/>
          <p:nvPr/>
        </p:nvSpPr>
        <p:spPr>
          <a:xfrm>
            <a:off x="2737600" y="1449754"/>
            <a:ext cx="671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</a:rPr>
              <a:t>Hace que la imagen cubra completamente el área disponible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D147BEA-1486-4AFC-981C-EC5CE51C97C8}"/>
              </a:ext>
            </a:extLst>
          </p:cNvPr>
          <p:cNvSpPr txBox="1"/>
          <p:nvPr/>
        </p:nvSpPr>
        <p:spPr>
          <a:xfrm>
            <a:off x="7811801" y="1632039"/>
            <a:ext cx="4337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Indica qué parte de la imagen debe quedar centra cuando </a:t>
            </a:r>
            <a:r>
              <a:rPr lang="es-MX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cover</a:t>
            </a:r>
            <a:r>
              <a:rPr lang="es-MX" dirty="0"/>
              <a:t> necesita recortarla 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D4450BF-8A29-4FA4-8810-7F818A93611D}"/>
              </a:ext>
            </a:extLst>
          </p:cNvPr>
          <p:cNvCxnSpPr>
            <a:cxnSpLocks/>
          </p:cNvCxnSpPr>
          <p:nvPr/>
        </p:nvCxnSpPr>
        <p:spPr>
          <a:xfrm>
            <a:off x="3171324" y="1869782"/>
            <a:ext cx="4748175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53A9704-4C6B-4A7C-BA4C-C7C6CF9424A0}"/>
              </a:ext>
            </a:extLst>
          </p:cNvPr>
          <p:cNvCxnSpPr>
            <a:cxnSpLocks/>
          </p:cNvCxnSpPr>
          <p:nvPr/>
        </p:nvCxnSpPr>
        <p:spPr>
          <a:xfrm>
            <a:off x="3370963" y="2080579"/>
            <a:ext cx="54289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200D7CC-2D5E-49AE-BCC1-FEE998EB739B}"/>
              </a:ext>
            </a:extLst>
          </p:cNvPr>
          <p:cNvSpPr txBox="1"/>
          <p:nvPr/>
        </p:nvSpPr>
        <p:spPr>
          <a:xfrm>
            <a:off x="3913854" y="1965814"/>
            <a:ext cx="290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Evita que la imagen se repita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5025E26-519B-472F-95B6-523D401EB5EE}"/>
              </a:ext>
            </a:extLst>
          </p:cNvPr>
          <p:cNvSpPr txBox="1"/>
          <p:nvPr/>
        </p:nvSpPr>
        <p:spPr>
          <a:xfrm>
            <a:off x="3399656" y="4175910"/>
            <a:ext cx="290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Centra el titulo de la imagen 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2E7C5AF-ACEE-41D9-896C-79AAAEF254E2}"/>
              </a:ext>
            </a:extLst>
          </p:cNvPr>
          <p:cNvSpPr/>
          <p:nvPr/>
        </p:nvSpPr>
        <p:spPr>
          <a:xfrm>
            <a:off x="384998" y="6339921"/>
            <a:ext cx="4274466" cy="278969"/>
          </a:xfrm>
          <a:prstGeom prst="rect">
            <a:avLst/>
          </a:prstGeom>
          <a:solidFill>
            <a:srgbClr val="121314"/>
          </a:solidFill>
          <a:ln>
            <a:solidFill>
              <a:srgbClr val="1213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Cerrar llave 34">
            <a:extLst>
              <a:ext uri="{FF2B5EF4-FFF2-40B4-BE49-F238E27FC236}">
                <a16:creationId xmlns:a16="http://schemas.microsoft.com/office/drawing/2014/main" id="{0A354990-87B0-4052-8FC8-376F57F60217}"/>
              </a:ext>
            </a:extLst>
          </p:cNvPr>
          <p:cNvSpPr/>
          <p:nvPr/>
        </p:nvSpPr>
        <p:spPr>
          <a:xfrm>
            <a:off x="2743200" y="3659313"/>
            <a:ext cx="385011" cy="1222285"/>
          </a:xfrm>
          <a:prstGeom prst="rightBrac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90ADB2E-7069-4324-80DF-85C41EA93579}"/>
              </a:ext>
            </a:extLst>
          </p:cNvPr>
          <p:cNvCxnSpPr>
            <a:cxnSpLocks/>
          </p:cNvCxnSpPr>
          <p:nvPr/>
        </p:nvCxnSpPr>
        <p:spPr>
          <a:xfrm>
            <a:off x="2194709" y="6224534"/>
            <a:ext cx="542891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658EB15-1330-4E06-9AE9-F3BD1C7580B6}"/>
              </a:ext>
            </a:extLst>
          </p:cNvPr>
          <p:cNvSpPr txBox="1"/>
          <p:nvPr/>
        </p:nvSpPr>
        <p:spPr>
          <a:xfrm>
            <a:off x="2737600" y="6074022"/>
            <a:ext cx="33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Separación entre líneas de texto </a:t>
            </a:r>
          </a:p>
        </p:txBody>
      </p:sp>
    </p:spTree>
    <p:extLst>
      <p:ext uri="{BB962C8B-B14F-4D97-AF65-F5344CB8AC3E}">
        <p14:creationId xmlns:p14="http://schemas.microsoft.com/office/powerpoint/2010/main" val="1280366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1146</Words>
  <Application>Microsoft Office PowerPoint</Application>
  <PresentationFormat>Panorámica</PresentationFormat>
  <Paragraphs>97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Tutorial de botones verdes</vt:lpstr>
      <vt:lpstr>Presentación de PowerPoint</vt:lpstr>
      <vt:lpstr>Ya vimos que el HTML es la base de la página, y necesita configurarse así al principio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4. Insertar imágenes</vt:lpstr>
      <vt:lpstr>6. &lt;h1&gt; para modificar las propiedades del texto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Botón de accesibilidad</dc:title>
  <dc:creator>INVENTARIOS</dc:creator>
  <cp:lastModifiedBy>INVENTARIOS</cp:lastModifiedBy>
  <cp:revision>42</cp:revision>
  <dcterms:created xsi:type="dcterms:W3CDTF">2026-08-11T18:15:31Z</dcterms:created>
  <dcterms:modified xsi:type="dcterms:W3CDTF">2026-08-12T21:14:46Z</dcterms:modified>
</cp:coreProperties>
</file>